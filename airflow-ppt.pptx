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76" d="100"/>
          <a:sy n="76" d="100"/>
        </p:scale>
        <p:origin x="6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39DD34-4076-4C27-AC55-698DF3096498}"/>
              </a:ext>
            </a:extLst>
          </p:cNvPr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7775F6-F42B-4BED-9DAA-D9617104EA29}"/>
              </a:ext>
            </a:extLst>
          </p:cNvPr>
          <p:cNvSpPr/>
          <p:nvPr/>
        </p:nvSpPr>
        <p:spPr>
          <a:xfrm>
            <a:off x="0" y="0"/>
            <a:ext cx="5486400" cy="279400"/>
          </a:xfrm>
          <a:prstGeom prst="rect">
            <a:avLst/>
          </a:prstGeom>
          <a:solidFill>
            <a:srgbClr val="1A1A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F1021-DAF3-4284-92A1-88E8AE35B1AB}"/>
              </a:ext>
            </a:extLst>
          </p:cNvPr>
          <p:cNvSpPr txBox="1"/>
          <p:nvPr/>
        </p:nvSpPr>
        <p:spPr>
          <a:xfrm>
            <a:off x="304800" y="925352"/>
            <a:ext cx="4876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400" b="1" dirty="0">
                <a:solidFill>
                  <a:srgbClr val="FFFFFF"/>
                </a:solidFill>
              </a:rPr>
              <a:t>Apache Airflow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D94290-DE1A-4EC0-990C-8E6F0038C49A}"/>
              </a:ext>
            </a:extLst>
          </p:cNvPr>
          <p:cNvSpPr txBox="1"/>
          <p:nvPr/>
        </p:nvSpPr>
        <p:spPr>
          <a:xfrm>
            <a:off x="304800" y="1879600"/>
            <a:ext cx="4876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0E8FF"/>
                </a:solidFill>
              </a:rPr>
              <a:t>Workflow Orchestration at Scale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1D044C-E603-4DC7-8DDE-F063AD7FF307}"/>
              </a:ext>
            </a:extLst>
          </p:cNvPr>
          <p:cNvSpPr/>
          <p:nvPr/>
        </p:nvSpPr>
        <p:spPr>
          <a:xfrm>
            <a:off x="304800" y="2438400"/>
            <a:ext cx="4318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5731C6-2419-4D9D-AE63-4578CBF1C94C}"/>
              </a:ext>
            </a:extLst>
          </p:cNvPr>
          <p:cNvSpPr txBox="1"/>
          <p:nvPr/>
        </p:nvSpPr>
        <p:spPr>
          <a:xfrm>
            <a:off x="304800" y="2667000"/>
            <a:ext cx="48768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▸  Architecture &amp; Components
▸  DAGs, Operators &amp; Hooks
▸  Scheduler &amp; Executor Types
▸  Data Engineering Pipelines
▸  MLOps Orchestration
▸  Kubernetes Deployment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9855F5-A67F-47E7-ABC9-9347FE08D643}"/>
              </a:ext>
            </a:extLst>
          </p:cNvPr>
          <p:cNvSpPr txBox="1"/>
          <p:nvPr/>
        </p:nvSpPr>
        <p:spPr>
          <a:xfrm>
            <a:off x="5842000" y="1143000"/>
            <a:ext cx="584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1A1A2E"/>
                </a:solidFill>
              </a:rPr>
              <a:t>Workflow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5E4173-BE3C-4754-9DAD-1A7EC24B3D1B}"/>
              </a:ext>
            </a:extLst>
          </p:cNvPr>
          <p:cNvSpPr txBox="1"/>
          <p:nvPr/>
        </p:nvSpPr>
        <p:spPr>
          <a:xfrm>
            <a:off x="5842000" y="1879600"/>
            <a:ext cx="584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1A1A2E"/>
                </a:solidFill>
              </a:rPr>
              <a:t>Orchestration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38355-1EDF-4A45-A22B-37CEDA892C7B}"/>
              </a:ext>
            </a:extLst>
          </p:cNvPr>
          <p:cNvSpPr txBox="1"/>
          <p:nvPr/>
        </p:nvSpPr>
        <p:spPr>
          <a:xfrm>
            <a:off x="5842000" y="2641600"/>
            <a:ext cx="584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017CEE"/>
                </a:solidFill>
              </a:rPr>
              <a:t>Deep Dive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220C29-51E0-4F39-89CD-0699C4F178E5}"/>
              </a:ext>
            </a:extLst>
          </p:cNvPr>
          <p:cNvSpPr txBox="1"/>
          <p:nvPr/>
        </p:nvSpPr>
        <p:spPr>
          <a:xfrm>
            <a:off x="5842000" y="3530600"/>
            <a:ext cx="584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Architecture  •  Components  •  Data Engineering  •  MLOps  •  Kubernetes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8D472B-8AE8-472F-9DC9-C5ED14C612F6}"/>
              </a:ext>
            </a:extLst>
          </p:cNvPr>
          <p:cNvSpPr/>
          <p:nvPr/>
        </p:nvSpPr>
        <p:spPr>
          <a:xfrm>
            <a:off x="5842000" y="4000500"/>
            <a:ext cx="5842000" cy="508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F2662C-C600-4BF1-A6DA-1FD9106958AC}"/>
              </a:ext>
            </a:extLst>
          </p:cNvPr>
          <p:cNvSpPr txBox="1"/>
          <p:nvPr/>
        </p:nvSpPr>
        <p:spPr>
          <a:xfrm>
            <a:off x="5842000" y="6350000"/>
            <a:ext cx="584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99999"/>
                </a:solidFill>
              </a:rPr>
              <a:t>Data Engineering &amp; MLOps Training Series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659456E-C250-4181-BDAC-3158D6A4579E}"/>
              </a:ext>
            </a:extLst>
          </p:cNvPr>
          <p:cNvSpPr/>
          <p:nvPr/>
        </p:nvSpPr>
        <p:spPr>
          <a:xfrm>
            <a:off x="5842000" y="609600"/>
            <a:ext cx="1456422" cy="381000"/>
          </a:xfrm>
          <a:prstGeom prst="round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B8A68C-C77F-46AA-8CAE-77B19626EA28}"/>
              </a:ext>
            </a:extLst>
          </p:cNvPr>
          <p:cNvSpPr txBox="1"/>
          <p:nvPr/>
        </p:nvSpPr>
        <p:spPr>
          <a:xfrm>
            <a:off x="5842000" y="664002"/>
            <a:ext cx="1582257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By Rajinikanth Vadla</a:t>
            </a:r>
          </a:p>
        </p:txBody>
      </p:sp>
    </p:spTree>
    <p:extLst>
      <p:ext uri="{BB962C8B-B14F-4D97-AF65-F5344CB8AC3E}">
        <p14:creationId xmlns:p14="http://schemas.microsoft.com/office/powerpoint/2010/main" val="1071561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9ABFA6-D28A-4D55-9DBB-D7A63602DF8E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D6197F-F44A-41A2-943A-C5B37E15824F}"/>
              </a:ext>
            </a:extLst>
          </p:cNvPr>
          <p:cNvSpPr txBox="1"/>
          <p:nvPr/>
        </p:nvSpPr>
        <p:spPr>
          <a:xfrm>
            <a:off x="254000" y="127000"/>
            <a:ext cx="1143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</a:rPr>
              <a:t>What is Apache Airflow?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439BE5-68D1-490A-BB6F-523BDB5D3F32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3806A4-E239-4D67-B34F-2BAC0D562DC4}"/>
              </a:ext>
            </a:extLst>
          </p:cNvPr>
          <p:cNvSpPr/>
          <p:nvPr/>
        </p:nvSpPr>
        <p:spPr>
          <a:xfrm>
            <a:off x="203200" y="990600"/>
            <a:ext cx="11785600" cy="838200"/>
          </a:xfrm>
          <a:prstGeom prst="roundRect">
            <a:avLst/>
          </a:prstGeom>
          <a:solidFill>
            <a:srgbClr val="F0F7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C161B-3116-439E-BC36-BADF39A6A8EC}"/>
              </a:ext>
            </a:extLst>
          </p:cNvPr>
          <p:cNvSpPr txBox="1"/>
          <p:nvPr/>
        </p:nvSpPr>
        <p:spPr>
          <a:xfrm>
            <a:off x="304800" y="1066800"/>
            <a:ext cx="115824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</a:rPr>
              <a:t>Apache Airflow is an open-source platform to programmatically author, schedule, and monitor workflows as DAGs written in Python. Developed at Airbnb in 2014 - now an Apache top-level project.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0FACD8-4643-4978-99C7-635D058C5F95}"/>
              </a:ext>
            </a:extLst>
          </p:cNvPr>
          <p:cNvSpPr/>
          <p:nvPr/>
        </p:nvSpPr>
        <p:spPr>
          <a:xfrm>
            <a:off x="203200" y="2006600"/>
            <a:ext cx="2908300" cy="3048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017C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1FF3CA-8FC6-49EC-99D0-E6CC415D0D9D}"/>
              </a:ext>
            </a:extLst>
          </p:cNvPr>
          <p:cNvSpPr/>
          <p:nvPr/>
        </p:nvSpPr>
        <p:spPr>
          <a:xfrm>
            <a:off x="203200" y="2006600"/>
            <a:ext cx="2908300" cy="762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B2E917-BAA5-4B82-B444-DF6F5CB80096}"/>
              </a:ext>
            </a:extLst>
          </p:cNvPr>
          <p:cNvSpPr txBox="1"/>
          <p:nvPr/>
        </p:nvSpPr>
        <p:spPr>
          <a:xfrm>
            <a:off x="330200" y="2159000"/>
            <a:ext cx="26543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017CEE"/>
                </a:solidFill>
              </a:rPr>
              <a:t>Python-First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3C900-EB07-477F-906D-B221D652C0A0}"/>
              </a:ext>
            </a:extLst>
          </p:cNvPr>
          <p:cNvSpPr txBox="1"/>
          <p:nvPr/>
        </p:nvSpPr>
        <p:spPr>
          <a:xfrm>
            <a:off x="330200" y="2616200"/>
            <a:ext cx="2654300" cy="236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Pipelines are Python code. Version-controlled, testable, and peer-reviewed in Git like any software project.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AA90B9-F284-4FE5-999A-2F226327E4BF}"/>
              </a:ext>
            </a:extLst>
          </p:cNvPr>
          <p:cNvSpPr/>
          <p:nvPr/>
        </p:nvSpPr>
        <p:spPr>
          <a:xfrm>
            <a:off x="3213100" y="2006600"/>
            <a:ext cx="2908300" cy="3048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00C0A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140E4D-0CC8-4384-A25D-1AA7F7EAC558}"/>
              </a:ext>
            </a:extLst>
          </p:cNvPr>
          <p:cNvSpPr/>
          <p:nvPr/>
        </p:nvSpPr>
        <p:spPr>
          <a:xfrm>
            <a:off x="3213100" y="2006600"/>
            <a:ext cx="2908300" cy="76200"/>
          </a:xfrm>
          <a:prstGeom prst="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719BA3-52DD-4620-8345-6EF1800EDFAB}"/>
              </a:ext>
            </a:extLst>
          </p:cNvPr>
          <p:cNvSpPr txBox="1"/>
          <p:nvPr/>
        </p:nvSpPr>
        <p:spPr>
          <a:xfrm>
            <a:off x="3340100" y="2159000"/>
            <a:ext cx="26543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00C0A3"/>
                </a:solidFill>
              </a:rPr>
              <a:t>Dynamic DAGs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7A63F7-1CF9-4801-8808-9D44554F7380}"/>
              </a:ext>
            </a:extLst>
          </p:cNvPr>
          <p:cNvSpPr txBox="1"/>
          <p:nvPr/>
        </p:nvSpPr>
        <p:spPr>
          <a:xfrm>
            <a:off x="3340100" y="2616200"/>
            <a:ext cx="2654300" cy="236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DAGs generated at runtime. Loop over datasets, parameterize pipelines, create tasks programmatically.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49A2970-6FAC-43EB-B24A-78A7A2E815FC}"/>
              </a:ext>
            </a:extLst>
          </p:cNvPr>
          <p:cNvSpPr/>
          <p:nvPr/>
        </p:nvSpPr>
        <p:spPr>
          <a:xfrm>
            <a:off x="6223000" y="2006600"/>
            <a:ext cx="2908300" cy="3048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BB7706-A44C-4D04-A3F2-E81A86C22546}"/>
              </a:ext>
            </a:extLst>
          </p:cNvPr>
          <p:cNvSpPr/>
          <p:nvPr/>
        </p:nvSpPr>
        <p:spPr>
          <a:xfrm>
            <a:off x="6223000" y="2006600"/>
            <a:ext cx="2908300" cy="76200"/>
          </a:xfrm>
          <a:prstGeom prst="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81088-4E39-40F5-B2B8-D72612AC0856}"/>
              </a:ext>
            </a:extLst>
          </p:cNvPr>
          <p:cNvSpPr txBox="1"/>
          <p:nvPr/>
        </p:nvSpPr>
        <p:spPr>
          <a:xfrm>
            <a:off x="6350000" y="2159000"/>
            <a:ext cx="26543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6B35"/>
                </a:solidFill>
              </a:rPr>
              <a:t>Extensible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4E4D9F-D58F-450C-91E9-64D89B21C2BF}"/>
              </a:ext>
            </a:extLst>
          </p:cNvPr>
          <p:cNvSpPr txBox="1"/>
          <p:nvPr/>
        </p:nvSpPr>
        <p:spPr>
          <a:xfrm>
            <a:off x="6350000" y="2616200"/>
            <a:ext cx="2654300" cy="236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1,000+ built-in operators. Connect to AWS, GCP, Azure, Snowflake, Spark, dbt - plug and play integration.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ED86861-9C18-43E4-BD3C-71A61E196F13}"/>
              </a:ext>
            </a:extLst>
          </p:cNvPr>
          <p:cNvSpPr/>
          <p:nvPr/>
        </p:nvSpPr>
        <p:spPr>
          <a:xfrm>
            <a:off x="9232900" y="2006600"/>
            <a:ext cx="2908300" cy="3048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7B61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496220-BF87-4B66-B90D-520382A85752}"/>
              </a:ext>
            </a:extLst>
          </p:cNvPr>
          <p:cNvSpPr/>
          <p:nvPr/>
        </p:nvSpPr>
        <p:spPr>
          <a:xfrm>
            <a:off x="9232900" y="2006600"/>
            <a:ext cx="2908300" cy="76200"/>
          </a:xfrm>
          <a:prstGeom prst="rect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B0D36A-8E5D-494C-9BA5-14A50726FBBD}"/>
              </a:ext>
            </a:extLst>
          </p:cNvPr>
          <p:cNvSpPr txBox="1"/>
          <p:nvPr/>
        </p:nvSpPr>
        <p:spPr>
          <a:xfrm>
            <a:off x="9359900" y="2159000"/>
            <a:ext cx="26543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7B61FF"/>
                </a:solidFill>
              </a:rPr>
              <a:t>Observable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3D6C95-C0B5-4937-B7F0-EBB7E8B9BAD6}"/>
              </a:ext>
            </a:extLst>
          </p:cNvPr>
          <p:cNvSpPr txBox="1"/>
          <p:nvPr/>
        </p:nvSpPr>
        <p:spPr>
          <a:xfrm>
            <a:off x="9359900" y="2616200"/>
            <a:ext cx="2654300" cy="236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Web UI shows run status, task logs, gantt charts, task dependency graphs - real-time monitoring.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5346A5-5BA0-4626-9333-B91026082978}"/>
              </a:ext>
            </a:extLst>
          </p:cNvPr>
          <p:cNvSpPr/>
          <p:nvPr/>
        </p:nvSpPr>
        <p:spPr>
          <a:xfrm>
            <a:off x="0" y="5257800"/>
            <a:ext cx="12192000" cy="1600200"/>
          </a:xfrm>
          <a:prstGeom prst="rect">
            <a:avLst/>
          </a:prstGeom>
          <a:solidFill>
            <a:srgbClr val="1A1A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A65EDE-2BEB-40B6-B41C-9F3B4F91F03A}"/>
              </a:ext>
            </a:extLst>
          </p:cNvPr>
          <p:cNvSpPr txBox="1"/>
          <p:nvPr/>
        </p:nvSpPr>
        <p:spPr>
          <a:xfrm>
            <a:off x="203200" y="5511800"/>
            <a:ext cx="29083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Created by Airbnb - 2014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12C5F4-47DC-4BFF-A1E0-40BE5FDF21FC}"/>
              </a:ext>
            </a:extLst>
          </p:cNvPr>
          <p:cNvSpPr txBox="1"/>
          <p:nvPr/>
        </p:nvSpPr>
        <p:spPr>
          <a:xfrm>
            <a:off x="203200" y="6045200"/>
            <a:ext cx="29083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AAAAAA"/>
                </a:solidFill>
              </a:rPr>
              <a:t>Open source, ASF licensed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00265D-1359-4EE5-B3BA-A3AA951A4F73}"/>
              </a:ext>
            </a:extLst>
          </p:cNvPr>
          <p:cNvSpPr txBox="1"/>
          <p:nvPr/>
        </p:nvSpPr>
        <p:spPr>
          <a:xfrm>
            <a:off x="3213100" y="5511800"/>
            <a:ext cx="29083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Apache Top-Level Project - 2019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117419-D7B4-42E9-BB65-8D6C8DC3A3EB}"/>
              </a:ext>
            </a:extLst>
          </p:cNvPr>
          <p:cNvSpPr txBox="1"/>
          <p:nvPr/>
        </p:nvSpPr>
        <p:spPr>
          <a:xfrm>
            <a:off x="3213100" y="6045200"/>
            <a:ext cx="29083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AAAAAA"/>
                </a:solidFill>
              </a:rPr>
              <a:t>Active community, regular releases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8D33E1-BDA1-4351-8FC2-7AE43D8C6243}"/>
              </a:ext>
            </a:extLst>
          </p:cNvPr>
          <p:cNvSpPr txBox="1"/>
          <p:nvPr/>
        </p:nvSpPr>
        <p:spPr>
          <a:xfrm>
            <a:off x="6223000" y="5511800"/>
            <a:ext cx="29083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300K+ GitHub Stars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F1976E-1AD1-4D5C-AC12-CFEE0E20FFAE}"/>
              </a:ext>
            </a:extLst>
          </p:cNvPr>
          <p:cNvSpPr txBox="1"/>
          <p:nvPr/>
        </p:nvSpPr>
        <p:spPr>
          <a:xfrm>
            <a:off x="6223000" y="6045200"/>
            <a:ext cx="29083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AAAAAA"/>
                </a:solidFill>
              </a:rPr>
              <a:t>Most-starred workflow tool on GitHub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728CF0-C3C5-43A7-AF8B-128EBE1219DA}"/>
              </a:ext>
            </a:extLst>
          </p:cNvPr>
          <p:cNvSpPr txBox="1"/>
          <p:nvPr/>
        </p:nvSpPr>
        <p:spPr>
          <a:xfrm>
            <a:off x="9232900" y="5511800"/>
            <a:ext cx="29083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Used by 10,000+ Companies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3B1C15-89C1-430D-81BA-65E69E5D68FA}"/>
              </a:ext>
            </a:extLst>
          </p:cNvPr>
          <p:cNvSpPr txBox="1"/>
          <p:nvPr/>
        </p:nvSpPr>
        <p:spPr>
          <a:xfrm>
            <a:off x="9232900" y="6045200"/>
            <a:ext cx="29083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AAAAAA"/>
                </a:solidFill>
              </a:rPr>
              <a:t>Airbnb, Lyft, Twitter, Walmart, LinkedIn</a:t>
            </a:r>
          </a:p>
        </p:txBody>
      </p:sp>
    </p:spTree>
    <p:extLst>
      <p:ext uri="{BB962C8B-B14F-4D97-AF65-F5344CB8AC3E}">
        <p14:creationId xmlns:p14="http://schemas.microsoft.com/office/powerpoint/2010/main" val="1189328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9A08CE-5011-4211-BE89-EF072E0F49C2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7323C-45CA-4C22-8809-656E3F43052E}"/>
              </a:ext>
            </a:extLst>
          </p:cNvPr>
          <p:cNvSpPr txBox="1"/>
          <p:nvPr/>
        </p:nvSpPr>
        <p:spPr>
          <a:xfrm>
            <a:off x="254000" y="127000"/>
            <a:ext cx="1143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</a:rPr>
              <a:t>What is Apache Airflow?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0DC873-F236-4178-96D1-662A881F2921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262614-6279-416A-A758-AA1E2B7D8193}"/>
              </a:ext>
            </a:extLst>
          </p:cNvPr>
          <p:cNvSpPr/>
          <p:nvPr/>
        </p:nvSpPr>
        <p:spPr>
          <a:xfrm>
            <a:off x="203200" y="990600"/>
            <a:ext cx="11785600" cy="838200"/>
          </a:xfrm>
          <a:prstGeom prst="roundRect">
            <a:avLst/>
          </a:prstGeom>
          <a:solidFill>
            <a:srgbClr val="F0F7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7076D-8120-4B1C-8FD3-6E7319643A23}"/>
              </a:ext>
            </a:extLst>
          </p:cNvPr>
          <p:cNvSpPr txBox="1"/>
          <p:nvPr/>
        </p:nvSpPr>
        <p:spPr>
          <a:xfrm>
            <a:off x="304800" y="1066800"/>
            <a:ext cx="115824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</a:rPr>
              <a:t>Apache Airflow is an open-source platform to programmatically author, schedule, and monitor workflows as DAGs written in Python. Developed at Airbnb in 2014 - now an Apache top-level project.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2C74B2-D26A-4713-827F-B806249B771E}"/>
              </a:ext>
            </a:extLst>
          </p:cNvPr>
          <p:cNvSpPr/>
          <p:nvPr/>
        </p:nvSpPr>
        <p:spPr>
          <a:xfrm>
            <a:off x="203200" y="2006600"/>
            <a:ext cx="2908300" cy="3048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017C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0B7D28-FA26-421B-91B7-D503198EF2E1}"/>
              </a:ext>
            </a:extLst>
          </p:cNvPr>
          <p:cNvSpPr/>
          <p:nvPr/>
        </p:nvSpPr>
        <p:spPr>
          <a:xfrm>
            <a:off x="203200" y="2006600"/>
            <a:ext cx="2908300" cy="762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508E4-6203-41F4-A4E2-5127F62FDECD}"/>
              </a:ext>
            </a:extLst>
          </p:cNvPr>
          <p:cNvSpPr txBox="1"/>
          <p:nvPr/>
        </p:nvSpPr>
        <p:spPr>
          <a:xfrm>
            <a:off x="330200" y="2159000"/>
            <a:ext cx="26543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017CEE"/>
                </a:solidFill>
              </a:rPr>
              <a:t>Python-First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4911F5-1812-45AF-BB57-766AE533BA0C}"/>
              </a:ext>
            </a:extLst>
          </p:cNvPr>
          <p:cNvSpPr txBox="1"/>
          <p:nvPr/>
        </p:nvSpPr>
        <p:spPr>
          <a:xfrm>
            <a:off x="330200" y="2616200"/>
            <a:ext cx="2654300" cy="236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Pipelines are Python code. Version-controlled, testable, unit-testable, peer-reviewed in Git.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EE7716-7786-4762-819B-D2EC8220F23F}"/>
              </a:ext>
            </a:extLst>
          </p:cNvPr>
          <p:cNvSpPr/>
          <p:nvPr/>
        </p:nvSpPr>
        <p:spPr>
          <a:xfrm>
            <a:off x="3213100" y="2006600"/>
            <a:ext cx="2908300" cy="3048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00C0A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F51289-671F-4242-AA50-897E940A637C}"/>
              </a:ext>
            </a:extLst>
          </p:cNvPr>
          <p:cNvSpPr/>
          <p:nvPr/>
        </p:nvSpPr>
        <p:spPr>
          <a:xfrm>
            <a:off x="3213100" y="2006600"/>
            <a:ext cx="2908300" cy="76200"/>
          </a:xfrm>
          <a:prstGeom prst="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2F503D-88BA-4707-A1A9-1B334791B365}"/>
              </a:ext>
            </a:extLst>
          </p:cNvPr>
          <p:cNvSpPr txBox="1"/>
          <p:nvPr/>
        </p:nvSpPr>
        <p:spPr>
          <a:xfrm>
            <a:off x="3340100" y="2159000"/>
            <a:ext cx="26543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00C0A3"/>
                </a:solidFill>
              </a:rPr>
              <a:t>Dynamic DAGs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74872D-CC71-4CE8-B6E6-B47CBE4E9165}"/>
              </a:ext>
            </a:extLst>
          </p:cNvPr>
          <p:cNvSpPr txBox="1"/>
          <p:nvPr/>
        </p:nvSpPr>
        <p:spPr>
          <a:xfrm>
            <a:off x="3340100" y="2616200"/>
            <a:ext cx="2654300" cy="236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DAGs are generated at runtime. Loop over datasets, parameterize pipelines, create tasks dynamically.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06D452-0CD3-4342-982C-C0F019727ACE}"/>
              </a:ext>
            </a:extLst>
          </p:cNvPr>
          <p:cNvSpPr/>
          <p:nvPr/>
        </p:nvSpPr>
        <p:spPr>
          <a:xfrm>
            <a:off x="6223000" y="2006600"/>
            <a:ext cx="2908300" cy="3048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220848-4D7D-42E8-8705-615273D727B1}"/>
              </a:ext>
            </a:extLst>
          </p:cNvPr>
          <p:cNvSpPr/>
          <p:nvPr/>
        </p:nvSpPr>
        <p:spPr>
          <a:xfrm>
            <a:off x="6223000" y="2006600"/>
            <a:ext cx="2908300" cy="76200"/>
          </a:xfrm>
          <a:prstGeom prst="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1A5C1E-059F-41C4-810B-139312462752}"/>
              </a:ext>
            </a:extLst>
          </p:cNvPr>
          <p:cNvSpPr txBox="1"/>
          <p:nvPr/>
        </p:nvSpPr>
        <p:spPr>
          <a:xfrm>
            <a:off x="6350000" y="2159000"/>
            <a:ext cx="26543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6B35"/>
                </a:solidFill>
              </a:rPr>
              <a:t>Extensible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7B61FA-CED6-473B-BF20-E896F27852C3}"/>
              </a:ext>
            </a:extLst>
          </p:cNvPr>
          <p:cNvSpPr txBox="1"/>
          <p:nvPr/>
        </p:nvSpPr>
        <p:spPr>
          <a:xfrm>
            <a:off x="6350000" y="2616200"/>
            <a:ext cx="2654300" cy="236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1,000+ operators built-in. Connect to AWS, GCP, Azure, Snowflake, Spark, dbt - plug and play.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4A8583-E621-4C1E-A5B0-9A710D93A06C}"/>
              </a:ext>
            </a:extLst>
          </p:cNvPr>
          <p:cNvSpPr/>
          <p:nvPr/>
        </p:nvSpPr>
        <p:spPr>
          <a:xfrm>
            <a:off x="9232900" y="2006600"/>
            <a:ext cx="2908300" cy="3048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7B61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1ECC3A-17EC-4AC0-BB46-075AA98D2BD2}"/>
              </a:ext>
            </a:extLst>
          </p:cNvPr>
          <p:cNvSpPr/>
          <p:nvPr/>
        </p:nvSpPr>
        <p:spPr>
          <a:xfrm>
            <a:off x="9232900" y="2006600"/>
            <a:ext cx="2908300" cy="76200"/>
          </a:xfrm>
          <a:prstGeom prst="rect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65E7F0-CF7F-44B2-86AC-C425E790A573}"/>
              </a:ext>
            </a:extLst>
          </p:cNvPr>
          <p:cNvSpPr txBox="1"/>
          <p:nvPr/>
        </p:nvSpPr>
        <p:spPr>
          <a:xfrm>
            <a:off x="9359900" y="2159000"/>
            <a:ext cx="26543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7B61FF"/>
                </a:solidFill>
              </a:rPr>
              <a:t>Observable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577D46-11E8-4286-967C-5357BC308053}"/>
              </a:ext>
            </a:extLst>
          </p:cNvPr>
          <p:cNvSpPr txBox="1"/>
          <p:nvPr/>
        </p:nvSpPr>
        <p:spPr>
          <a:xfrm>
            <a:off x="9359900" y="2616200"/>
            <a:ext cx="2654300" cy="236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Web UI for monitoring runs, inspecting logs, retrying failures, and viewing task dependency graphs.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887337-956E-4B58-B79B-069164700072}"/>
              </a:ext>
            </a:extLst>
          </p:cNvPr>
          <p:cNvSpPr/>
          <p:nvPr/>
        </p:nvSpPr>
        <p:spPr>
          <a:xfrm>
            <a:off x="0" y="5257800"/>
            <a:ext cx="12192000" cy="1600200"/>
          </a:xfrm>
          <a:prstGeom prst="rect">
            <a:avLst/>
          </a:prstGeom>
          <a:solidFill>
            <a:srgbClr val="1A1A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08D045-E9A1-407E-B8DC-79F44D13330D}"/>
              </a:ext>
            </a:extLst>
          </p:cNvPr>
          <p:cNvSpPr txBox="1"/>
          <p:nvPr/>
        </p:nvSpPr>
        <p:spPr>
          <a:xfrm>
            <a:off x="203200" y="5461000"/>
            <a:ext cx="29083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</a:rPr>
              <a:t>Created by Airbnb - 2014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CE9DA1-C7D4-4298-9462-CD469F9406CE}"/>
              </a:ext>
            </a:extLst>
          </p:cNvPr>
          <p:cNvSpPr txBox="1"/>
          <p:nvPr/>
        </p:nvSpPr>
        <p:spPr>
          <a:xfrm>
            <a:off x="3213100" y="5461000"/>
            <a:ext cx="29083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</a:rPr>
              <a:t>Apache Top-Level Project - 2019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A919D4-CDD9-4A89-B10D-73ED800E5C5D}"/>
              </a:ext>
            </a:extLst>
          </p:cNvPr>
          <p:cNvSpPr txBox="1"/>
          <p:nvPr/>
        </p:nvSpPr>
        <p:spPr>
          <a:xfrm>
            <a:off x="6223000" y="5461000"/>
            <a:ext cx="29083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</a:rPr>
              <a:t>300K+ GitHub stars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41C580-46B8-48B4-9F9B-056A2E3DA7D2}"/>
              </a:ext>
            </a:extLst>
          </p:cNvPr>
          <p:cNvSpPr txBox="1"/>
          <p:nvPr/>
        </p:nvSpPr>
        <p:spPr>
          <a:xfrm>
            <a:off x="9232900" y="5461000"/>
            <a:ext cx="29083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</a:rPr>
              <a:t>Used by 10,000+ companies</a:t>
            </a:r>
          </a:p>
        </p:txBody>
      </p:sp>
    </p:spTree>
    <p:extLst>
      <p:ext uri="{BB962C8B-B14F-4D97-AF65-F5344CB8AC3E}">
        <p14:creationId xmlns:p14="http://schemas.microsoft.com/office/powerpoint/2010/main" val="1536841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B8EDFC-2A18-48EC-AB4E-C1F4995E6DEC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A1A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9BBC8A-22FD-4978-B313-5FB7DA287A20}"/>
              </a:ext>
            </a:extLst>
          </p:cNvPr>
          <p:cNvSpPr txBox="1"/>
          <p:nvPr/>
        </p:nvSpPr>
        <p:spPr>
          <a:xfrm>
            <a:off x="254000" y="127000"/>
            <a:ext cx="1143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</a:rPr>
              <a:t>Airflow Core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9431C-9ECE-4A29-821B-06BCD36DBCC1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C973B5-56B9-4D35-A833-709E4B52D277}"/>
              </a:ext>
            </a:extLst>
          </p:cNvPr>
          <p:cNvSpPr/>
          <p:nvPr/>
        </p:nvSpPr>
        <p:spPr>
          <a:xfrm>
            <a:off x="127000" y="1016000"/>
            <a:ext cx="2286000" cy="2159000"/>
          </a:xfrm>
          <a:prstGeom prst="roundRect">
            <a:avLst/>
          </a:prstGeom>
          <a:solidFill>
            <a:srgbClr val="FAFB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4894CD-B544-4A3D-8520-E68EC36546F2}"/>
              </a:ext>
            </a:extLst>
          </p:cNvPr>
          <p:cNvSpPr/>
          <p:nvPr/>
        </p:nvSpPr>
        <p:spPr>
          <a:xfrm>
            <a:off x="127000" y="1016000"/>
            <a:ext cx="2286000" cy="1016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36B8D5-A9E6-4F9E-8580-85838681DD35}"/>
              </a:ext>
            </a:extLst>
          </p:cNvPr>
          <p:cNvSpPr txBox="1"/>
          <p:nvPr/>
        </p:nvSpPr>
        <p:spPr>
          <a:xfrm>
            <a:off x="203200" y="11684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017CEE"/>
                </a:solidFill>
              </a:rPr>
              <a:t>Webserver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DC3B79-446C-447F-9C73-3B60A34C69C6}"/>
              </a:ext>
            </a:extLst>
          </p:cNvPr>
          <p:cNvSpPr txBox="1"/>
          <p:nvPr/>
        </p:nvSpPr>
        <p:spPr>
          <a:xfrm>
            <a:off x="203200" y="1600200"/>
            <a:ext cx="2133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UI / REST API
Monitor &amp; trigger DAGs
View logs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683B644-D230-4F82-9E9D-51D9EBCAE3E5}"/>
              </a:ext>
            </a:extLst>
          </p:cNvPr>
          <p:cNvSpPr/>
          <p:nvPr/>
        </p:nvSpPr>
        <p:spPr>
          <a:xfrm>
            <a:off x="2438400" y="1930400"/>
            <a:ext cx="228600" cy="2032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FC07A6-9249-4B4A-A741-1352B2C66AB5}"/>
              </a:ext>
            </a:extLst>
          </p:cNvPr>
          <p:cNvSpPr/>
          <p:nvPr/>
        </p:nvSpPr>
        <p:spPr>
          <a:xfrm>
            <a:off x="2565400" y="1016000"/>
            <a:ext cx="2286000" cy="2159000"/>
          </a:xfrm>
          <a:prstGeom prst="roundRect">
            <a:avLst/>
          </a:prstGeom>
          <a:solidFill>
            <a:srgbClr val="FAFB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5F9182-26A3-4C2D-9F9A-EEF37C1224AD}"/>
              </a:ext>
            </a:extLst>
          </p:cNvPr>
          <p:cNvSpPr/>
          <p:nvPr/>
        </p:nvSpPr>
        <p:spPr>
          <a:xfrm>
            <a:off x="2565400" y="1016000"/>
            <a:ext cx="2286000" cy="101600"/>
          </a:xfrm>
          <a:prstGeom prst="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5ED1B7-E838-4E4B-A124-C3CA24B8F78E}"/>
              </a:ext>
            </a:extLst>
          </p:cNvPr>
          <p:cNvSpPr txBox="1"/>
          <p:nvPr/>
        </p:nvSpPr>
        <p:spPr>
          <a:xfrm>
            <a:off x="2641600" y="11684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00C0A3"/>
                </a:solidFill>
              </a:rPr>
              <a:t>Scheduler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71ABBD-210B-4C17-AEF8-0C3550D070AF}"/>
              </a:ext>
            </a:extLst>
          </p:cNvPr>
          <p:cNvSpPr txBox="1"/>
          <p:nvPr/>
        </p:nvSpPr>
        <p:spPr>
          <a:xfrm>
            <a:off x="2641600" y="1600200"/>
            <a:ext cx="2133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Parse DAGs
Schedule tasks
Check dependencies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BB33B72-C259-438D-9E70-7F0C9971A760}"/>
              </a:ext>
            </a:extLst>
          </p:cNvPr>
          <p:cNvSpPr/>
          <p:nvPr/>
        </p:nvSpPr>
        <p:spPr>
          <a:xfrm>
            <a:off x="4876800" y="1930400"/>
            <a:ext cx="228600" cy="2032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E3C47B-4CF8-47BC-90A0-5529DA3FA684}"/>
              </a:ext>
            </a:extLst>
          </p:cNvPr>
          <p:cNvSpPr/>
          <p:nvPr/>
        </p:nvSpPr>
        <p:spPr>
          <a:xfrm>
            <a:off x="5003800" y="1016000"/>
            <a:ext cx="2286000" cy="2159000"/>
          </a:xfrm>
          <a:prstGeom prst="roundRect">
            <a:avLst/>
          </a:prstGeom>
          <a:solidFill>
            <a:srgbClr val="FAFB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2A74E2-6A28-4DF0-BFD6-C9CDD6F3839B}"/>
              </a:ext>
            </a:extLst>
          </p:cNvPr>
          <p:cNvSpPr/>
          <p:nvPr/>
        </p:nvSpPr>
        <p:spPr>
          <a:xfrm>
            <a:off x="5003800" y="1016000"/>
            <a:ext cx="2286000" cy="101600"/>
          </a:xfrm>
          <a:prstGeom prst="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C17187-CC16-49F8-8F94-BAC4F53CA32D}"/>
              </a:ext>
            </a:extLst>
          </p:cNvPr>
          <p:cNvSpPr txBox="1"/>
          <p:nvPr/>
        </p:nvSpPr>
        <p:spPr>
          <a:xfrm>
            <a:off x="5080000" y="11684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6B35"/>
                </a:solidFill>
              </a:rPr>
              <a:t>Executor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5A600-02E1-42DF-AE35-216A9E1AFB23}"/>
              </a:ext>
            </a:extLst>
          </p:cNvPr>
          <p:cNvSpPr txBox="1"/>
          <p:nvPr/>
        </p:nvSpPr>
        <p:spPr>
          <a:xfrm>
            <a:off x="5080000" y="1600200"/>
            <a:ext cx="2133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Dispatch tasks
Local / Celery /
Kubernetes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A7B3391-9F9C-4D0E-A76C-0AE67BBC766D}"/>
              </a:ext>
            </a:extLst>
          </p:cNvPr>
          <p:cNvSpPr/>
          <p:nvPr/>
        </p:nvSpPr>
        <p:spPr>
          <a:xfrm>
            <a:off x="7315200" y="1930400"/>
            <a:ext cx="228600" cy="2032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1BD7247-9212-4B54-9A8E-FDDEE7530D4F}"/>
              </a:ext>
            </a:extLst>
          </p:cNvPr>
          <p:cNvSpPr/>
          <p:nvPr/>
        </p:nvSpPr>
        <p:spPr>
          <a:xfrm>
            <a:off x="7442200" y="1016000"/>
            <a:ext cx="2286000" cy="2159000"/>
          </a:xfrm>
          <a:prstGeom prst="roundRect">
            <a:avLst/>
          </a:prstGeom>
          <a:solidFill>
            <a:srgbClr val="FAFB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82DB84-A515-4854-A554-116CFA6D0FBA}"/>
              </a:ext>
            </a:extLst>
          </p:cNvPr>
          <p:cNvSpPr/>
          <p:nvPr/>
        </p:nvSpPr>
        <p:spPr>
          <a:xfrm>
            <a:off x="7442200" y="1016000"/>
            <a:ext cx="2286000" cy="101600"/>
          </a:xfrm>
          <a:prstGeom prst="rect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890330-4FBC-4A1E-A2EF-44B796E56575}"/>
              </a:ext>
            </a:extLst>
          </p:cNvPr>
          <p:cNvSpPr txBox="1"/>
          <p:nvPr/>
        </p:nvSpPr>
        <p:spPr>
          <a:xfrm>
            <a:off x="7518400" y="11684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7B61FF"/>
                </a:solidFill>
              </a:rPr>
              <a:t>Worker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C42674-53D7-4E73-9523-6826DD912B16}"/>
              </a:ext>
            </a:extLst>
          </p:cNvPr>
          <p:cNvSpPr txBox="1"/>
          <p:nvPr/>
        </p:nvSpPr>
        <p:spPr>
          <a:xfrm>
            <a:off x="7518400" y="1600200"/>
            <a:ext cx="2133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Execute operators
Run actual logic
Report status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D99BCFB5-AE31-492F-9633-E71AC569068D}"/>
              </a:ext>
            </a:extLst>
          </p:cNvPr>
          <p:cNvSpPr/>
          <p:nvPr/>
        </p:nvSpPr>
        <p:spPr>
          <a:xfrm>
            <a:off x="9753600" y="1930400"/>
            <a:ext cx="228600" cy="2032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264CD45-5464-4ACD-8C56-EA0B99DDDBC8}"/>
              </a:ext>
            </a:extLst>
          </p:cNvPr>
          <p:cNvSpPr/>
          <p:nvPr/>
        </p:nvSpPr>
        <p:spPr>
          <a:xfrm>
            <a:off x="9880600" y="1016000"/>
            <a:ext cx="2286000" cy="2159000"/>
          </a:xfrm>
          <a:prstGeom prst="roundRect">
            <a:avLst/>
          </a:prstGeom>
          <a:solidFill>
            <a:srgbClr val="FAFB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18362B-7EDE-4466-B940-63552A9A30D1}"/>
              </a:ext>
            </a:extLst>
          </p:cNvPr>
          <p:cNvSpPr/>
          <p:nvPr/>
        </p:nvSpPr>
        <p:spPr>
          <a:xfrm>
            <a:off x="9880600" y="1016000"/>
            <a:ext cx="2286000" cy="1016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98547A-598B-4866-8744-E90D6D8238E0}"/>
              </a:ext>
            </a:extLst>
          </p:cNvPr>
          <p:cNvSpPr txBox="1"/>
          <p:nvPr/>
        </p:nvSpPr>
        <p:spPr>
          <a:xfrm>
            <a:off x="9956800" y="11684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B020"/>
                </a:solidFill>
              </a:rPr>
              <a:t>Metadata DB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A4EF0F-EFC4-47A0-9AF6-25DD6C90CFF4}"/>
              </a:ext>
            </a:extLst>
          </p:cNvPr>
          <p:cNvSpPr txBox="1"/>
          <p:nvPr/>
        </p:nvSpPr>
        <p:spPr>
          <a:xfrm>
            <a:off x="9956800" y="1600200"/>
            <a:ext cx="2133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DAG state
Task instances
Variables, XComs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ECD5ED-44AF-4545-9749-4132B413F6F3}"/>
              </a:ext>
            </a:extLst>
          </p:cNvPr>
          <p:cNvSpPr txBox="1"/>
          <p:nvPr/>
        </p:nvSpPr>
        <p:spPr>
          <a:xfrm>
            <a:off x="635000" y="33274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888888"/>
                </a:solidFill>
              </a:rPr>
              <a:t>All components connect to the Metadata DB (PostgreSQL / MySQL) for state management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96F2C8-305C-488D-A97D-1A141B0E529E}"/>
              </a:ext>
            </a:extLst>
          </p:cNvPr>
          <p:cNvSpPr txBox="1"/>
          <p:nvPr/>
        </p:nvSpPr>
        <p:spPr>
          <a:xfrm>
            <a:off x="203200" y="37592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999999"/>
                </a:solidFill>
              </a:rPr>
              <a:t>Supporting Components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A18B990-A9B9-467E-836C-884D056BB172}"/>
              </a:ext>
            </a:extLst>
          </p:cNvPr>
          <p:cNvSpPr/>
          <p:nvPr/>
        </p:nvSpPr>
        <p:spPr>
          <a:xfrm>
            <a:off x="203200" y="4013200"/>
            <a:ext cx="2908300" cy="16764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017C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38156D-6C33-4C69-977C-1BA1C61B46A0}"/>
              </a:ext>
            </a:extLst>
          </p:cNvPr>
          <p:cNvSpPr txBox="1"/>
          <p:nvPr/>
        </p:nvSpPr>
        <p:spPr>
          <a:xfrm>
            <a:off x="304800" y="41148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17CEE"/>
                </a:solidFill>
              </a:rPr>
              <a:t>DAG Files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C99614-EC22-4F8E-AB5C-56422801CB37}"/>
              </a:ext>
            </a:extLst>
          </p:cNvPr>
          <p:cNvSpPr txBox="1"/>
          <p:nvPr/>
        </p:nvSpPr>
        <p:spPr>
          <a:xfrm>
            <a:off x="304800" y="4495800"/>
            <a:ext cx="27051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555555"/>
                </a:solidFill>
              </a:rPr>
              <a:t>Python scripts defining
pipeline logic. Parsed
by Scheduler.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B979D95-3238-4590-B38C-1CA54812A6FD}"/>
              </a:ext>
            </a:extLst>
          </p:cNvPr>
          <p:cNvSpPr/>
          <p:nvPr/>
        </p:nvSpPr>
        <p:spPr>
          <a:xfrm>
            <a:off x="3213100" y="4013200"/>
            <a:ext cx="2908300" cy="16764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1A1F8E-DEE1-4D96-8F36-7090EFAFDB02}"/>
              </a:ext>
            </a:extLst>
          </p:cNvPr>
          <p:cNvSpPr txBox="1"/>
          <p:nvPr/>
        </p:nvSpPr>
        <p:spPr>
          <a:xfrm>
            <a:off x="3314700" y="41148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6B35"/>
                </a:solidFill>
              </a:rPr>
              <a:t>Message Broker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F18614-D980-42F6-9E8E-BD9043775B9E}"/>
              </a:ext>
            </a:extLst>
          </p:cNvPr>
          <p:cNvSpPr txBox="1"/>
          <p:nvPr/>
        </p:nvSpPr>
        <p:spPr>
          <a:xfrm>
            <a:off x="3314700" y="4495800"/>
            <a:ext cx="27051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555555"/>
                </a:solidFill>
              </a:rPr>
              <a:t>Redis or RabbitMQ.
Required for Celery
Executor only.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CE2BDA1-DD21-4971-8594-1BCEF90BBA52}"/>
              </a:ext>
            </a:extLst>
          </p:cNvPr>
          <p:cNvSpPr/>
          <p:nvPr/>
        </p:nvSpPr>
        <p:spPr>
          <a:xfrm>
            <a:off x="6223000" y="4013200"/>
            <a:ext cx="2908300" cy="16764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00C0A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2A93ED-B54B-4146-ADBA-56F8BE6D02A3}"/>
              </a:ext>
            </a:extLst>
          </p:cNvPr>
          <p:cNvSpPr txBox="1"/>
          <p:nvPr/>
        </p:nvSpPr>
        <p:spPr>
          <a:xfrm>
            <a:off x="6324600" y="41148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0C0A3"/>
                </a:solidFill>
              </a:rPr>
              <a:t>Flower UI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8ED87D-D4F1-4183-9462-BE626A9CD2E9}"/>
              </a:ext>
            </a:extLst>
          </p:cNvPr>
          <p:cNvSpPr txBox="1"/>
          <p:nvPr/>
        </p:nvSpPr>
        <p:spPr>
          <a:xfrm>
            <a:off x="6324600" y="4495800"/>
            <a:ext cx="27051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555555"/>
                </a:solidFill>
              </a:rPr>
              <a:t>Monitor Celery workers.
Task queue visibility.
Worker health checks.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DC74EA4-0871-41B3-9078-5C0296704B03}"/>
              </a:ext>
            </a:extLst>
          </p:cNvPr>
          <p:cNvSpPr/>
          <p:nvPr/>
        </p:nvSpPr>
        <p:spPr>
          <a:xfrm>
            <a:off x="9232900" y="4013200"/>
            <a:ext cx="2908300" cy="16764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7B61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FDFE01-199A-4150-9684-C57C0559048B}"/>
              </a:ext>
            </a:extLst>
          </p:cNvPr>
          <p:cNvSpPr txBox="1"/>
          <p:nvPr/>
        </p:nvSpPr>
        <p:spPr>
          <a:xfrm>
            <a:off x="9334500" y="41148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7B61FF"/>
                </a:solidFill>
              </a:rPr>
              <a:t>Plugins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86D677-EF25-4059-996C-630CD803498D}"/>
              </a:ext>
            </a:extLst>
          </p:cNvPr>
          <p:cNvSpPr txBox="1"/>
          <p:nvPr/>
        </p:nvSpPr>
        <p:spPr>
          <a:xfrm>
            <a:off x="9334500" y="4495800"/>
            <a:ext cx="27051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555555"/>
                </a:solidFill>
              </a:rPr>
              <a:t>Custom operators,
hooks, sensors,
templates &amp; views.</a:t>
            </a:r>
          </a:p>
        </p:txBody>
      </p:sp>
    </p:spTree>
    <p:extLst>
      <p:ext uri="{BB962C8B-B14F-4D97-AF65-F5344CB8AC3E}">
        <p14:creationId xmlns:p14="http://schemas.microsoft.com/office/powerpoint/2010/main" val="444012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A194B5-3473-4E3D-9BBB-DB4DF669978F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243E1-DDD0-4DF4-A888-37304532249B}"/>
              </a:ext>
            </a:extLst>
          </p:cNvPr>
          <p:cNvSpPr txBox="1"/>
          <p:nvPr/>
        </p:nvSpPr>
        <p:spPr>
          <a:xfrm>
            <a:off x="254000" y="127000"/>
            <a:ext cx="1143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</a:rPr>
              <a:t>DAG - Directed Acyclic Graph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88BE48-4432-4835-A224-8CFA7ADA175A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C97BB9-C678-4601-9C15-AF367976A2F5}"/>
              </a:ext>
            </a:extLst>
          </p:cNvPr>
          <p:cNvSpPr/>
          <p:nvPr/>
        </p:nvSpPr>
        <p:spPr>
          <a:xfrm>
            <a:off x="203200" y="990600"/>
            <a:ext cx="11785600" cy="711200"/>
          </a:xfrm>
          <a:prstGeom prst="roundRect">
            <a:avLst/>
          </a:prstGeom>
          <a:solidFill>
            <a:srgbClr val="F0F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25D938-CCEF-463C-B8A2-116EE9F7AE95}"/>
              </a:ext>
            </a:extLst>
          </p:cNvPr>
          <p:cNvSpPr txBox="1"/>
          <p:nvPr/>
        </p:nvSpPr>
        <p:spPr>
          <a:xfrm>
            <a:off x="304800" y="1066800"/>
            <a:ext cx="11582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</a:rPr>
              <a:t>A DAG is a collection of tasks with defined dependencies - written as a Python script. It is DIRECTED (tasks have direction), ACYCLIC (no loops). It represents one complete workflow.</a:t>
            </a:r>
            <a:endParaRPr lang="en-US" sz="1600" dirty="0">
              <a:solidFill>
                <a:srgbClr val="1A1A2E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6134C1-CF17-4B19-AF30-534DFDBA8F41}"/>
              </a:ext>
            </a:extLst>
          </p:cNvPr>
          <p:cNvSpPr/>
          <p:nvPr/>
        </p:nvSpPr>
        <p:spPr>
          <a:xfrm>
            <a:off x="254000" y="1930400"/>
            <a:ext cx="2006600" cy="863600"/>
          </a:xfrm>
          <a:prstGeom prst="round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07A0CB-FE20-4276-9EFC-48BE61F018B1}"/>
              </a:ext>
            </a:extLst>
          </p:cNvPr>
          <p:cNvSpPr txBox="1"/>
          <p:nvPr/>
        </p:nvSpPr>
        <p:spPr>
          <a:xfrm>
            <a:off x="304800" y="2032000"/>
            <a:ext cx="1905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Extract
Data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F2A44D-AAF0-42D1-910E-F1DC6CE6EC32}"/>
              </a:ext>
            </a:extLst>
          </p:cNvPr>
          <p:cNvSpPr/>
          <p:nvPr/>
        </p:nvSpPr>
        <p:spPr>
          <a:xfrm>
            <a:off x="2374900" y="1758950"/>
            <a:ext cx="2006600" cy="863600"/>
          </a:xfrm>
          <a:prstGeom prst="round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A7E051-09DE-4333-9DE2-0EB4777C928A}"/>
              </a:ext>
            </a:extLst>
          </p:cNvPr>
          <p:cNvSpPr txBox="1"/>
          <p:nvPr/>
        </p:nvSpPr>
        <p:spPr>
          <a:xfrm>
            <a:off x="2679700" y="2051050"/>
            <a:ext cx="1905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</a:rPr>
              <a:t>Validate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C5EF744-C13B-4104-9CAA-3468B46F6A94}"/>
              </a:ext>
            </a:extLst>
          </p:cNvPr>
          <p:cNvSpPr/>
          <p:nvPr/>
        </p:nvSpPr>
        <p:spPr>
          <a:xfrm>
            <a:off x="2387600" y="2667000"/>
            <a:ext cx="2006600" cy="863600"/>
          </a:xfrm>
          <a:prstGeom prst="round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520EF8-A85A-45D4-92F9-26B1EEDE8235}"/>
              </a:ext>
            </a:extLst>
          </p:cNvPr>
          <p:cNvSpPr txBox="1"/>
          <p:nvPr/>
        </p:nvSpPr>
        <p:spPr>
          <a:xfrm>
            <a:off x="2438400" y="2768600"/>
            <a:ext cx="1905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Clean
Data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1F65EE6-6CA2-4996-A815-8888DD3A5F04}"/>
              </a:ext>
            </a:extLst>
          </p:cNvPr>
          <p:cNvSpPr/>
          <p:nvPr/>
        </p:nvSpPr>
        <p:spPr>
          <a:xfrm>
            <a:off x="4546600" y="1930400"/>
            <a:ext cx="2006600" cy="863600"/>
          </a:xfrm>
          <a:prstGeom prst="round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9A6043-3005-4477-A5DF-E590EC615F37}"/>
              </a:ext>
            </a:extLst>
          </p:cNvPr>
          <p:cNvSpPr txBox="1"/>
          <p:nvPr/>
        </p:nvSpPr>
        <p:spPr>
          <a:xfrm>
            <a:off x="4597400" y="2032000"/>
            <a:ext cx="1905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59F8634-25C8-4379-899C-AC6BC2A4310F}"/>
              </a:ext>
            </a:extLst>
          </p:cNvPr>
          <p:cNvSpPr/>
          <p:nvPr/>
        </p:nvSpPr>
        <p:spPr>
          <a:xfrm>
            <a:off x="6705600" y="1930400"/>
            <a:ext cx="2006600" cy="863600"/>
          </a:xfrm>
          <a:prstGeom prst="roundRect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A00D34-53C6-44E8-A3CF-56CBB65EC870}"/>
              </a:ext>
            </a:extLst>
          </p:cNvPr>
          <p:cNvSpPr txBox="1"/>
          <p:nvPr/>
        </p:nvSpPr>
        <p:spPr>
          <a:xfrm>
            <a:off x="6756400" y="2032000"/>
            <a:ext cx="1905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Load to
DW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A609DB1-52C8-440C-A58D-E59E4E345613}"/>
              </a:ext>
            </a:extLst>
          </p:cNvPr>
          <p:cNvSpPr/>
          <p:nvPr/>
        </p:nvSpPr>
        <p:spPr>
          <a:xfrm>
            <a:off x="8864600" y="1930400"/>
            <a:ext cx="2006600" cy="863600"/>
          </a:xfrm>
          <a:prstGeom prst="round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5BDB6A-689C-4A16-8201-3D3A95010109}"/>
              </a:ext>
            </a:extLst>
          </p:cNvPr>
          <p:cNvSpPr txBox="1"/>
          <p:nvPr/>
        </p:nvSpPr>
        <p:spPr>
          <a:xfrm>
            <a:off x="8915400" y="2032000"/>
            <a:ext cx="1905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Notify /
Alert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BB9B1E0-486C-44BE-8357-C5BE373C49D0}"/>
              </a:ext>
            </a:extLst>
          </p:cNvPr>
          <p:cNvSpPr/>
          <p:nvPr/>
        </p:nvSpPr>
        <p:spPr>
          <a:xfrm>
            <a:off x="2260600" y="1968500"/>
            <a:ext cx="101600" cy="1524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2851C66-9605-4DBA-8B4D-0E8F288D3EC4}"/>
              </a:ext>
            </a:extLst>
          </p:cNvPr>
          <p:cNvSpPr/>
          <p:nvPr/>
        </p:nvSpPr>
        <p:spPr>
          <a:xfrm>
            <a:off x="2260600" y="3111500"/>
            <a:ext cx="101600" cy="1524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35292A5-96FE-460B-B84E-BB2D18CD9A96}"/>
              </a:ext>
            </a:extLst>
          </p:cNvPr>
          <p:cNvSpPr/>
          <p:nvPr/>
        </p:nvSpPr>
        <p:spPr>
          <a:xfrm>
            <a:off x="4419600" y="2184400"/>
            <a:ext cx="101600" cy="1524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D973FD4-4A02-48C4-A58C-B5F808EF84E7}"/>
              </a:ext>
            </a:extLst>
          </p:cNvPr>
          <p:cNvSpPr/>
          <p:nvPr/>
        </p:nvSpPr>
        <p:spPr>
          <a:xfrm>
            <a:off x="6578600" y="2184400"/>
            <a:ext cx="101600" cy="1524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775312A-518E-4BAE-89A6-BD3DF52FF8A2}"/>
              </a:ext>
            </a:extLst>
          </p:cNvPr>
          <p:cNvSpPr/>
          <p:nvPr/>
        </p:nvSpPr>
        <p:spPr>
          <a:xfrm>
            <a:off x="8737600" y="2184400"/>
            <a:ext cx="101600" cy="1524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4D81BD-DA90-435B-8656-B94825664841}"/>
              </a:ext>
            </a:extLst>
          </p:cNvPr>
          <p:cNvSpPr txBox="1"/>
          <p:nvPr/>
        </p:nvSpPr>
        <p:spPr>
          <a:xfrm>
            <a:off x="203200" y="37465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999999"/>
                </a:solidFill>
              </a:rPr>
              <a:t>Key DAG Properties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872B820-E65A-4450-A306-8E49CA993436}"/>
              </a:ext>
            </a:extLst>
          </p:cNvPr>
          <p:cNvSpPr/>
          <p:nvPr/>
        </p:nvSpPr>
        <p:spPr>
          <a:xfrm>
            <a:off x="203200" y="4000500"/>
            <a:ext cx="2908300" cy="22606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017C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FCF6A9-A0A7-4266-B171-5AABCDDDBCD0}"/>
              </a:ext>
            </a:extLst>
          </p:cNvPr>
          <p:cNvSpPr txBox="1"/>
          <p:nvPr/>
        </p:nvSpPr>
        <p:spPr>
          <a:xfrm>
            <a:off x="304800" y="4102100"/>
            <a:ext cx="27051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17CEE"/>
                </a:solidFill>
              </a:rPr>
              <a:t>schedule_interval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FD5591-56FC-4F2F-8ADB-AE756BBFFF85}"/>
              </a:ext>
            </a:extLst>
          </p:cNvPr>
          <p:cNvSpPr txBox="1"/>
          <p:nvPr/>
        </p:nvSpPr>
        <p:spPr>
          <a:xfrm>
            <a:off x="304800" y="4521200"/>
            <a:ext cx="2705100" cy="1689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Cron expression or timedelta. When the DAG runs.
e.g. @daily, '0 6 * * *', timedelta(hours=6)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2E13020-48EA-4DEB-87C3-A9C9E9C34001}"/>
              </a:ext>
            </a:extLst>
          </p:cNvPr>
          <p:cNvSpPr/>
          <p:nvPr/>
        </p:nvSpPr>
        <p:spPr>
          <a:xfrm>
            <a:off x="3213100" y="4000500"/>
            <a:ext cx="2908300" cy="22606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00C0A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AF2806-24B8-4AC8-AF7B-95901E044142}"/>
              </a:ext>
            </a:extLst>
          </p:cNvPr>
          <p:cNvSpPr txBox="1"/>
          <p:nvPr/>
        </p:nvSpPr>
        <p:spPr>
          <a:xfrm>
            <a:off x="3314700" y="4102100"/>
            <a:ext cx="27051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0C0A3"/>
                </a:solidFill>
              </a:rPr>
              <a:t>start_date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4B749-E340-4801-A7C1-AB10F54642A0}"/>
              </a:ext>
            </a:extLst>
          </p:cNvPr>
          <p:cNvSpPr txBox="1"/>
          <p:nvPr/>
        </p:nvSpPr>
        <p:spPr>
          <a:xfrm>
            <a:off x="3314700" y="4521200"/>
            <a:ext cx="2705100" cy="1689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Date from which Airflow considers the DAG active. Used for backfilling historical runs.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7751EAB-A292-4FCA-ADD9-415860FD0717}"/>
              </a:ext>
            </a:extLst>
          </p:cNvPr>
          <p:cNvSpPr/>
          <p:nvPr/>
        </p:nvSpPr>
        <p:spPr>
          <a:xfrm>
            <a:off x="6223000" y="4000500"/>
            <a:ext cx="2908300" cy="22606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4CB74D-1AAD-4F2A-847D-6C2E53B863CE}"/>
              </a:ext>
            </a:extLst>
          </p:cNvPr>
          <p:cNvSpPr txBox="1"/>
          <p:nvPr/>
        </p:nvSpPr>
        <p:spPr>
          <a:xfrm>
            <a:off x="6324600" y="4102100"/>
            <a:ext cx="27051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6B35"/>
                </a:solidFill>
              </a:rPr>
              <a:t>catchup=False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BC3042-5062-4362-BB2F-BE78D0B8C2CC}"/>
              </a:ext>
            </a:extLst>
          </p:cNvPr>
          <p:cNvSpPr txBox="1"/>
          <p:nvPr/>
        </p:nvSpPr>
        <p:spPr>
          <a:xfrm>
            <a:off x="6324600" y="4521200"/>
            <a:ext cx="2705100" cy="1689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Prevents running all missed historical intervals on restart. Critical for production DAGs.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E75D5F5-ACD6-41C8-9430-23253FF5C39E}"/>
              </a:ext>
            </a:extLst>
          </p:cNvPr>
          <p:cNvSpPr/>
          <p:nvPr/>
        </p:nvSpPr>
        <p:spPr>
          <a:xfrm>
            <a:off x="9232900" y="4000500"/>
            <a:ext cx="2908300" cy="22606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7B61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998A62-7004-4E6B-8745-F1B4B99F104D}"/>
              </a:ext>
            </a:extLst>
          </p:cNvPr>
          <p:cNvSpPr txBox="1"/>
          <p:nvPr/>
        </p:nvSpPr>
        <p:spPr>
          <a:xfrm>
            <a:off x="9334500" y="4102100"/>
            <a:ext cx="27051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7B61FF"/>
                </a:solidFill>
              </a:rPr>
              <a:t>default_args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1D55EB-4FC3-4D30-A1CB-299685367651}"/>
              </a:ext>
            </a:extLst>
          </p:cNvPr>
          <p:cNvSpPr txBox="1"/>
          <p:nvPr/>
        </p:nvSpPr>
        <p:spPr>
          <a:xfrm>
            <a:off x="9334500" y="4521200"/>
            <a:ext cx="2705100" cy="1689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retries, retry_delay, email_on_failure, owner - applied to all tasks as defaults.</a:t>
            </a:r>
          </a:p>
        </p:txBody>
      </p:sp>
    </p:spTree>
    <p:extLst>
      <p:ext uri="{BB962C8B-B14F-4D97-AF65-F5344CB8AC3E}">
        <p14:creationId xmlns:p14="http://schemas.microsoft.com/office/powerpoint/2010/main" val="3560186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0DC417-9A02-445B-8EA9-193C461D95F3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837AF-0702-4DEF-8A64-92DA1FCE8468}"/>
              </a:ext>
            </a:extLst>
          </p:cNvPr>
          <p:cNvSpPr txBox="1"/>
          <p:nvPr/>
        </p:nvSpPr>
        <p:spPr>
          <a:xfrm>
            <a:off x="254000" y="127000"/>
            <a:ext cx="1143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</a:rPr>
              <a:t>The Scheduler - Airflow's Heartbeat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D1D715-1485-4A5F-B7F9-BC45A284C75B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629B46-C894-4940-B24D-65AE713F8B6D}"/>
              </a:ext>
            </a:extLst>
          </p:cNvPr>
          <p:cNvSpPr/>
          <p:nvPr/>
        </p:nvSpPr>
        <p:spPr>
          <a:xfrm>
            <a:off x="203200" y="990600"/>
            <a:ext cx="11785600" cy="660400"/>
          </a:xfrm>
          <a:prstGeom prst="roundRect">
            <a:avLst/>
          </a:prstGeom>
          <a:solidFill>
            <a:srgbClr val="F0F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52BDA5-D421-4926-BCC5-EEFB053D31F6}"/>
              </a:ext>
            </a:extLst>
          </p:cNvPr>
          <p:cNvSpPr txBox="1"/>
          <p:nvPr/>
        </p:nvSpPr>
        <p:spPr>
          <a:xfrm>
            <a:off x="304800" y="1066800"/>
            <a:ext cx="11582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</a:rPr>
              <a:t>The Scheduler continuously scans DAG files, evaluates dependencies, determines what is ready to run, and submits tasks to the Executor. Without the Scheduler, nothing moves.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24FBB0-373D-41BB-8C88-1575F8FD6A73}"/>
              </a:ext>
            </a:extLst>
          </p:cNvPr>
          <p:cNvSpPr/>
          <p:nvPr/>
        </p:nvSpPr>
        <p:spPr>
          <a:xfrm>
            <a:off x="177800" y="1879600"/>
            <a:ext cx="2133600" cy="1066800"/>
          </a:xfrm>
          <a:prstGeom prst="ellipse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A117F5-53BA-411C-A9D0-14DBBAAE8F50}"/>
              </a:ext>
            </a:extLst>
          </p:cNvPr>
          <p:cNvSpPr txBox="1"/>
          <p:nvPr/>
        </p:nvSpPr>
        <p:spPr>
          <a:xfrm>
            <a:off x="361193" y="1981200"/>
            <a:ext cx="2133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164B4-9414-4F64-B63D-EDB5B7D9EC85}"/>
              </a:ext>
            </a:extLst>
          </p:cNvPr>
          <p:cNvSpPr txBox="1"/>
          <p:nvPr/>
        </p:nvSpPr>
        <p:spPr>
          <a:xfrm>
            <a:off x="473046" y="2293690"/>
            <a:ext cx="2133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dirty="0">
                <a:solidFill>
                  <a:srgbClr val="FFFFFF"/>
                </a:solidFill>
              </a:rPr>
              <a:t>Parse
DAG Files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B06F995-8488-40A7-A4CE-83B6016851ED}"/>
              </a:ext>
            </a:extLst>
          </p:cNvPr>
          <p:cNvSpPr/>
          <p:nvPr/>
        </p:nvSpPr>
        <p:spPr>
          <a:xfrm>
            <a:off x="2336800" y="2298700"/>
            <a:ext cx="406400" cy="1778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2C9E04-6375-4245-ABA8-AE735A50FC68}"/>
              </a:ext>
            </a:extLst>
          </p:cNvPr>
          <p:cNvSpPr/>
          <p:nvPr/>
        </p:nvSpPr>
        <p:spPr>
          <a:xfrm>
            <a:off x="2590800" y="1879600"/>
            <a:ext cx="2133600" cy="1066800"/>
          </a:xfrm>
          <a:prstGeom prst="ellipse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12FED2-807E-4B29-AF6E-EFEE8D395DCE}"/>
              </a:ext>
            </a:extLst>
          </p:cNvPr>
          <p:cNvSpPr txBox="1"/>
          <p:nvPr/>
        </p:nvSpPr>
        <p:spPr>
          <a:xfrm>
            <a:off x="2790854" y="1981200"/>
            <a:ext cx="2133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8F7BC8-0CD3-4030-AF5C-DF3755341EDC}"/>
              </a:ext>
            </a:extLst>
          </p:cNvPr>
          <p:cNvSpPr txBox="1"/>
          <p:nvPr/>
        </p:nvSpPr>
        <p:spPr>
          <a:xfrm>
            <a:off x="2886046" y="2298700"/>
            <a:ext cx="2133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dirty="0">
                <a:solidFill>
                  <a:srgbClr val="FFFFFF"/>
                </a:solidFill>
              </a:rPr>
              <a:t>Check
Schedule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8FE24EB-AC02-4D75-8D7D-8D14280A54DC}"/>
              </a:ext>
            </a:extLst>
          </p:cNvPr>
          <p:cNvSpPr/>
          <p:nvPr/>
        </p:nvSpPr>
        <p:spPr>
          <a:xfrm>
            <a:off x="4749800" y="2298700"/>
            <a:ext cx="406400" cy="1778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701560-8C27-4F12-9BDC-CD574316A694}"/>
              </a:ext>
            </a:extLst>
          </p:cNvPr>
          <p:cNvSpPr/>
          <p:nvPr/>
        </p:nvSpPr>
        <p:spPr>
          <a:xfrm>
            <a:off x="5003800" y="1879600"/>
            <a:ext cx="2133600" cy="1066800"/>
          </a:xfrm>
          <a:prstGeom prst="ellipse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107CED-B9CF-4574-8180-F019B82673EA}"/>
              </a:ext>
            </a:extLst>
          </p:cNvPr>
          <p:cNvSpPr txBox="1"/>
          <p:nvPr/>
        </p:nvSpPr>
        <p:spPr>
          <a:xfrm>
            <a:off x="5234905" y="1997162"/>
            <a:ext cx="2133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6ECF76-4533-406A-935A-44B77700B55A}"/>
              </a:ext>
            </a:extLst>
          </p:cNvPr>
          <p:cNvSpPr txBox="1"/>
          <p:nvPr/>
        </p:nvSpPr>
        <p:spPr>
          <a:xfrm>
            <a:off x="5314892" y="2317750"/>
            <a:ext cx="2133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</a:rPr>
              <a:t>Evaluate
Deps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EF21282-9BDE-422A-A3A9-9C8FAAB738B9}"/>
              </a:ext>
            </a:extLst>
          </p:cNvPr>
          <p:cNvSpPr/>
          <p:nvPr/>
        </p:nvSpPr>
        <p:spPr>
          <a:xfrm>
            <a:off x="7162800" y="2298700"/>
            <a:ext cx="406400" cy="1778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3872C25-67BC-4FB4-9E72-FE76132F7067}"/>
              </a:ext>
            </a:extLst>
          </p:cNvPr>
          <p:cNvSpPr/>
          <p:nvPr/>
        </p:nvSpPr>
        <p:spPr>
          <a:xfrm>
            <a:off x="7416800" y="1879600"/>
            <a:ext cx="2133600" cy="1066800"/>
          </a:xfrm>
          <a:prstGeom prst="ellipse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03CAFE-30DB-4753-BAD6-0035D6A317EC}"/>
              </a:ext>
            </a:extLst>
          </p:cNvPr>
          <p:cNvSpPr txBox="1"/>
          <p:nvPr/>
        </p:nvSpPr>
        <p:spPr>
          <a:xfrm>
            <a:off x="7599610" y="1981200"/>
            <a:ext cx="2133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6F17F4-8AC6-45D4-B42A-ED65D6BB9691}"/>
              </a:ext>
            </a:extLst>
          </p:cNvPr>
          <p:cNvSpPr txBox="1"/>
          <p:nvPr/>
        </p:nvSpPr>
        <p:spPr>
          <a:xfrm>
            <a:off x="7645400" y="2336800"/>
            <a:ext cx="2133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</a:rPr>
              <a:t>Queue
Tasks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782EFFD-DC14-4286-9F11-9D88EE0B29B6}"/>
              </a:ext>
            </a:extLst>
          </p:cNvPr>
          <p:cNvSpPr/>
          <p:nvPr/>
        </p:nvSpPr>
        <p:spPr>
          <a:xfrm>
            <a:off x="9575800" y="2298700"/>
            <a:ext cx="406400" cy="1778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F49782F-43CB-4E05-83C6-A0C0BF4975EB}"/>
              </a:ext>
            </a:extLst>
          </p:cNvPr>
          <p:cNvSpPr/>
          <p:nvPr/>
        </p:nvSpPr>
        <p:spPr>
          <a:xfrm>
            <a:off x="9829800" y="1879600"/>
            <a:ext cx="2133600" cy="1066800"/>
          </a:xfrm>
          <a:prstGeom prst="ellipse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C93339-AF8C-43FD-B9B7-E388E55580FD}"/>
              </a:ext>
            </a:extLst>
          </p:cNvPr>
          <p:cNvSpPr txBox="1"/>
          <p:nvPr/>
        </p:nvSpPr>
        <p:spPr>
          <a:xfrm>
            <a:off x="9975908" y="1993900"/>
            <a:ext cx="2133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5DF0AE-E4A6-474E-AB34-AD03CDA839B0}"/>
              </a:ext>
            </a:extLst>
          </p:cNvPr>
          <p:cNvSpPr txBox="1"/>
          <p:nvPr/>
        </p:nvSpPr>
        <p:spPr>
          <a:xfrm>
            <a:off x="10058400" y="2312507"/>
            <a:ext cx="2133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dirty="0">
                <a:solidFill>
                  <a:srgbClr val="FFFFFF"/>
                </a:solidFill>
              </a:rPr>
              <a:t>Submit to
Executor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F2988B-763A-48A7-AD96-EE6007014A0C}"/>
              </a:ext>
            </a:extLst>
          </p:cNvPr>
          <p:cNvSpPr txBox="1"/>
          <p:nvPr/>
        </p:nvSpPr>
        <p:spPr>
          <a:xfrm>
            <a:off x="3556000" y="3098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888888"/>
                </a:solidFill>
              </a:rPr>
              <a:t>↻  Continuous loop - default heartbeat every 30 seconds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55F8E3-88D6-40FA-9ED9-887F6C4838BB}"/>
              </a:ext>
            </a:extLst>
          </p:cNvPr>
          <p:cNvSpPr txBox="1"/>
          <p:nvPr/>
        </p:nvSpPr>
        <p:spPr>
          <a:xfrm>
            <a:off x="203200" y="35052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999999"/>
                </a:solidFill>
              </a:rPr>
              <a:t>Scheduler Internals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6482B98-C5ED-4C49-A953-8AF78B23EB06}"/>
              </a:ext>
            </a:extLst>
          </p:cNvPr>
          <p:cNvSpPr/>
          <p:nvPr/>
        </p:nvSpPr>
        <p:spPr>
          <a:xfrm>
            <a:off x="203200" y="3759200"/>
            <a:ext cx="2908300" cy="24384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017C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5CFBA1-F042-4900-B36A-FD4205D1C3BC}"/>
              </a:ext>
            </a:extLst>
          </p:cNvPr>
          <p:cNvSpPr/>
          <p:nvPr/>
        </p:nvSpPr>
        <p:spPr>
          <a:xfrm>
            <a:off x="203200" y="3759200"/>
            <a:ext cx="2908300" cy="635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8BF19E-C54E-40C7-9EB8-FB1AE3259A9A}"/>
              </a:ext>
            </a:extLst>
          </p:cNvPr>
          <p:cNvSpPr txBox="1"/>
          <p:nvPr/>
        </p:nvSpPr>
        <p:spPr>
          <a:xfrm>
            <a:off x="304800" y="3886200"/>
            <a:ext cx="27051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17CEE"/>
                </a:solidFill>
              </a:rPr>
              <a:t>DAG Parsing Interval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2060AD-60E3-4D66-93AF-1F7DB0F9D163}"/>
              </a:ext>
            </a:extLst>
          </p:cNvPr>
          <p:cNvSpPr txBox="1"/>
          <p:nvPr/>
        </p:nvSpPr>
        <p:spPr>
          <a:xfrm>
            <a:off x="304800" y="4292600"/>
            <a:ext cx="2705100" cy="185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dag_dir_list_interval (30s default). Scans the DAGs folder for new/modified Python files.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94BA63A-8235-4DBB-8641-BAD390085155}"/>
              </a:ext>
            </a:extLst>
          </p:cNvPr>
          <p:cNvSpPr/>
          <p:nvPr/>
        </p:nvSpPr>
        <p:spPr>
          <a:xfrm>
            <a:off x="3213100" y="3759200"/>
            <a:ext cx="2908300" cy="24384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00C0A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4A2245-B10A-4519-B978-C5395D5C43A1}"/>
              </a:ext>
            </a:extLst>
          </p:cNvPr>
          <p:cNvSpPr/>
          <p:nvPr/>
        </p:nvSpPr>
        <p:spPr>
          <a:xfrm>
            <a:off x="3213100" y="3759200"/>
            <a:ext cx="2908300" cy="63500"/>
          </a:xfrm>
          <a:prstGeom prst="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85EBC0-8F87-43BA-A68F-AEACB9852B5B}"/>
              </a:ext>
            </a:extLst>
          </p:cNvPr>
          <p:cNvSpPr txBox="1"/>
          <p:nvPr/>
        </p:nvSpPr>
        <p:spPr>
          <a:xfrm>
            <a:off x="3314700" y="3886200"/>
            <a:ext cx="27051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0C0A3"/>
                </a:solidFill>
              </a:rPr>
              <a:t>Task State Machine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816BB1-147A-4F2F-8F7F-00286F47EB31}"/>
              </a:ext>
            </a:extLst>
          </p:cNvPr>
          <p:cNvSpPr txBox="1"/>
          <p:nvPr/>
        </p:nvSpPr>
        <p:spPr>
          <a:xfrm>
            <a:off x="3314700" y="4292600"/>
            <a:ext cx="2705100" cy="185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none → scheduled → queued → running → success/failed/skipped. All states stored in Metadata DB.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F4D1743-50FB-4601-B779-2B9092849AB5}"/>
              </a:ext>
            </a:extLst>
          </p:cNvPr>
          <p:cNvSpPr/>
          <p:nvPr/>
        </p:nvSpPr>
        <p:spPr>
          <a:xfrm>
            <a:off x="6223000" y="3759200"/>
            <a:ext cx="2908300" cy="24384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7A9F1-DCE6-40E4-A58C-DB8ED8744A1A}"/>
              </a:ext>
            </a:extLst>
          </p:cNvPr>
          <p:cNvSpPr/>
          <p:nvPr/>
        </p:nvSpPr>
        <p:spPr>
          <a:xfrm>
            <a:off x="6223000" y="3759200"/>
            <a:ext cx="2908300" cy="63500"/>
          </a:xfrm>
          <a:prstGeom prst="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BC051B-D129-45E3-9BCD-D42B63FEA1FA}"/>
              </a:ext>
            </a:extLst>
          </p:cNvPr>
          <p:cNvSpPr txBox="1"/>
          <p:nvPr/>
        </p:nvSpPr>
        <p:spPr>
          <a:xfrm>
            <a:off x="6324600" y="3886200"/>
            <a:ext cx="27051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6B35"/>
                </a:solidFill>
              </a:rPr>
              <a:t>Heartbeat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77C230-F674-4AF5-8643-2ECEBE0D1D63}"/>
              </a:ext>
            </a:extLst>
          </p:cNvPr>
          <p:cNvSpPr txBox="1"/>
          <p:nvPr/>
        </p:nvSpPr>
        <p:spPr>
          <a:xfrm>
            <a:off x="6324600" y="4292600"/>
            <a:ext cx="2705100" cy="185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Scheduler records heartbeat to DB. If missed for job_heartbeat_sec, another HA scheduler takes over.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D1C6E93-EBAB-4522-9039-8A40259E3DE9}"/>
              </a:ext>
            </a:extLst>
          </p:cNvPr>
          <p:cNvSpPr/>
          <p:nvPr/>
        </p:nvSpPr>
        <p:spPr>
          <a:xfrm>
            <a:off x="9232900" y="3759200"/>
            <a:ext cx="2908300" cy="24384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7B61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45016A2-7D00-4A22-BA79-D35DE9D7C9B2}"/>
              </a:ext>
            </a:extLst>
          </p:cNvPr>
          <p:cNvSpPr/>
          <p:nvPr/>
        </p:nvSpPr>
        <p:spPr>
          <a:xfrm>
            <a:off x="9232900" y="3759200"/>
            <a:ext cx="2908300" cy="63500"/>
          </a:xfrm>
          <a:prstGeom prst="rect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B704C7-B061-4A63-B522-8E18211F6003}"/>
              </a:ext>
            </a:extLst>
          </p:cNvPr>
          <p:cNvSpPr txBox="1"/>
          <p:nvPr/>
        </p:nvSpPr>
        <p:spPr>
          <a:xfrm>
            <a:off x="9334500" y="3886200"/>
            <a:ext cx="27051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7B61FF"/>
                </a:solidFill>
              </a:rPr>
              <a:t>HA in Airflow 2.0+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A3CA7D-EB0E-4E95-AF01-2E7AAC4E47E7}"/>
              </a:ext>
            </a:extLst>
          </p:cNvPr>
          <p:cNvSpPr txBox="1"/>
          <p:nvPr/>
        </p:nvSpPr>
        <p:spPr>
          <a:xfrm>
            <a:off x="9334500" y="4292600"/>
            <a:ext cx="2705100" cy="185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Multiple schedulers run simultaneously. Active/active HA. Uses DB row locking - no SPOF.</a:t>
            </a:r>
          </a:p>
        </p:txBody>
      </p:sp>
    </p:spTree>
    <p:extLst>
      <p:ext uri="{BB962C8B-B14F-4D97-AF65-F5344CB8AC3E}">
        <p14:creationId xmlns:p14="http://schemas.microsoft.com/office/powerpoint/2010/main" val="2733459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B79164-7AF2-461B-ACB0-3582B3E7AEB7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42FD8B-82A5-4797-AFF1-AA4909E8B01C}"/>
              </a:ext>
            </a:extLst>
          </p:cNvPr>
          <p:cNvSpPr txBox="1"/>
          <p:nvPr/>
        </p:nvSpPr>
        <p:spPr>
          <a:xfrm>
            <a:off x="254000" y="127000"/>
            <a:ext cx="1143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</a:rPr>
              <a:t>Executor Types - How Tasks Are Dispatched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501F1-31B0-4EAF-906C-D9A58B6A30A4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9F10DD-2AC9-4E14-AA76-5D855F5852A4}"/>
              </a:ext>
            </a:extLst>
          </p:cNvPr>
          <p:cNvSpPr/>
          <p:nvPr/>
        </p:nvSpPr>
        <p:spPr>
          <a:xfrm>
            <a:off x="203200" y="990600"/>
            <a:ext cx="11785600" cy="584200"/>
          </a:xfrm>
          <a:prstGeom prst="roundRect">
            <a:avLst/>
          </a:prstGeom>
          <a:solidFill>
            <a:srgbClr val="FFF5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E9005C-0F3D-4F69-AE0E-858F32F4A457}"/>
              </a:ext>
            </a:extLst>
          </p:cNvPr>
          <p:cNvSpPr txBox="1"/>
          <p:nvPr/>
        </p:nvSpPr>
        <p:spPr>
          <a:xfrm>
            <a:off x="304800" y="1066800"/>
            <a:ext cx="11582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</a:rPr>
              <a:t>The Executor determines HOW and WHERE tasks are executed. Choose based on scale, infrastructure, and isolation requirements.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F25771-8247-4966-9C12-10EA893C2B13}"/>
              </a:ext>
            </a:extLst>
          </p:cNvPr>
          <p:cNvSpPr/>
          <p:nvPr/>
        </p:nvSpPr>
        <p:spPr>
          <a:xfrm>
            <a:off x="203200" y="1752600"/>
            <a:ext cx="2908300" cy="3708400"/>
          </a:xfrm>
          <a:prstGeom prst="roundRect">
            <a:avLst/>
          </a:prstGeom>
          <a:solidFill>
            <a:srgbClr val="FAFB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64A32F-C02E-44AD-9F56-347F9CCABC7E}"/>
              </a:ext>
            </a:extLst>
          </p:cNvPr>
          <p:cNvSpPr/>
          <p:nvPr/>
        </p:nvSpPr>
        <p:spPr>
          <a:xfrm>
            <a:off x="203200" y="1752600"/>
            <a:ext cx="2908300" cy="88900"/>
          </a:xfrm>
          <a:prstGeom prst="rect">
            <a:avLst/>
          </a:prstGeom>
          <a:solidFill>
            <a:srgbClr val="9999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0D3129-441D-4B78-9C3C-11866AFB99B4}"/>
              </a:ext>
            </a:extLst>
          </p:cNvPr>
          <p:cNvSpPr/>
          <p:nvPr/>
        </p:nvSpPr>
        <p:spPr>
          <a:xfrm>
            <a:off x="1346200" y="1905000"/>
            <a:ext cx="635000" cy="635000"/>
          </a:xfrm>
          <a:prstGeom prst="ellipse">
            <a:avLst/>
          </a:prstGeom>
          <a:solidFill>
            <a:srgbClr val="9999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A8F599-0335-49EF-B976-276FB81C9D93}"/>
              </a:ext>
            </a:extLst>
          </p:cNvPr>
          <p:cNvSpPr txBox="1"/>
          <p:nvPr/>
        </p:nvSpPr>
        <p:spPr>
          <a:xfrm>
            <a:off x="1346200" y="20574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81CAF-767F-41CE-BFD9-4680E38DF115}"/>
              </a:ext>
            </a:extLst>
          </p:cNvPr>
          <p:cNvSpPr txBox="1"/>
          <p:nvPr/>
        </p:nvSpPr>
        <p:spPr>
          <a:xfrm>
            <a:off x="304800" y="2641600"/>
            <a:ext cx="2705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999999"/>
                </a:solidFill>
              </a:rPr>
              <a:t>Sequential
Executor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D9465A-601E-4543-996E-91E34E34733E}"/>
              </a:ext>
            </a:extLst>
          </p:cNvPr>
          <p:cNvSpPr txBox="1"/>
          <p:nvPr/>
        </p:nvSpPr>
        <p:spPr>
          <a:xfrm>
            <a:off x="304800" y="3251200"/>
            <a:ext cx="2705100" cy="154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Runs one task at a time. No parallelism. SQLite backend. Only for quick local testing.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6443DD-2C78-47AC-B73D-563956269E78}"/>
              </a:ext>
            </a:extLst>
          </p:cNvPr>
          <p:cNvSpPr/>
          <p:nvPr/>
        </p:nvSpPr>
        <p:spPr>
          <a:xfrm>
            <a:off x="304800" y="4927600"/>
            <a:ext cx="2705100" cy="355600"/>
          </a:xfrm>
          <a:prstGeom prst="roundRect">
            <a:avLst/>
          </a:prstGeom>
          <a:solidFill>
            <a:srgbClr val="9999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E5012B-DB84-4EFC-B02B-44DCDED84257}"/>
              </a:ext>
            </a:extLst>
          </p:cNvPr>
          <p:cNvSpPr txBox="1"/>
          <p:nvPr/>
        </p:nvSpPr>
        <p:spPr>
          <a:xfrm>
            <a:off x="304800" y="4953000"/>
            <a:ext cx="27051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</a:rPr>
              <a:t>Local testing only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1C58B0-1A17-4BB1-840C-8FBC2539CE27}"/>
              </a:ext>
            </a:extLst>
          </p:cNvPr>
          <p:cNvSpPr/>
          <p:nvPr/>
        </p:nvSpPr>
        <p:spPr>
          <a:xfrm>
            <a:off x="3213100" y="1752600"/>
            <a:ext cx="2908300" cy="3708400"/>
          </a:xfrm>
          <a:prstGeom prst="roundRect">
            <a:avLst/>
          </a:prstGeom>
          <a:solidFill>
            <a:srgbClr val="FAFB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D6024A-76EE-4E33-B7D8-3167A204F463}"/>
              </a:ext>
            </a:extLst>
          </p:cNvPr>
          <p:cNvSpPr/>
          <p:nvPr/>
        </p:nvSpPr>
        <p:spPr>
          <a:xfrm>
            <a:off x="3213100" y="1752600"/>
            <a:ext cx="2908300" cy="889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85C5C41-9FB5-4627-A40C-58C0EDDC4892}"/>
              </a:ext>
            </a:extLst>
          </p:cNvPr>
          <p:cNvSpPr/>
          <p:nvPr/>
        </p:nvSpPr>
        <p:spPr>
          <a:xfrm>
            <a:off x="4356100" y="1905000"/>
            <a:ext cx="635000" cy="635000"/>
          </a:xfrm>
          <a:prstGeom prst="ellipse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6BB8DC-5ABC-4495-86A0-6F2E32065E4F}"/>
              </a:ext>
            </a:extLst>
          </p:cNvPr>
          <p:cNvSpPr txBox="1"/>
          <p:nvPr/>
        </p:nvSpPr>
        <p:spPr>
          <a:xfrm>
            <a:off x="4356100" y="20574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B6C6B8-0DE4-49FB-85A1-6B9F46975DA7}"/>
              </a:ext>
            </a:extLst>
          </p:cNvPr>
          <p:cNvSpPr txBox="1"/>
          <p:nvPr/>
        </p:nvSpPr>
        <p:spPr>
          <a:xfrm>
            <a:off x="3314700" y="2641600"/>
            <a:ext cx="2705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017CEE"/>
                </a:solidFill>
              </a:rPr>
              <a:t>Local
Executor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10C9E7-B048-48A4-ACF8-155FD09252A0}"/>
              </a:ext>
            </a:extLst>
          </p:cNvPr>
          <p:cNvSpPr txBox="1"/>
          <p:nvPr/>
        </p:nvSpPr>
        <p:spPr>
          <a:xfrm>
            <a:off x="3314700" y="3251200"/>
            <a:ext cx="2705100" cy="154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Multi-process on one machine. Uses PostgreSQL. Good parallelism without distributed infra.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5B5F658-1879-4D59-A467-B08762184A6C}"/>
              </a:ext>
            </a:extLst>
          </p:cNvPr>
          <p:cNvSpPr/>
          <p:nvPr/>
        </p:nvSpPr>
        <p:spPr>
          <a:xfrm>
            <a:off x="3314700" y="4927600"/>
            <a:ext cx="2705100" cy="355600"/>
          </a:xfrm>
          <a:prstGeom prst="round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598807-BA4B-4446-BE2D-003C8E610F01}"/>
              </a:ext>
            </a:extLst>
          </p:cNvPr>
          <p:cNvSpPr txBox="1"/>
          <p:nvPr/>
        </p:nvSpPr>
        <p:spPr>
          <a:xfrm>
            <a:off x="3314700" y="4953000"/>
            <a:ext cx="27051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</a:rPr>
              <a:t>Small teams, dev/QA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E5F1D00-2A51-421C-86E0-B86245569C36}"/>
              </a:ext>
            </a:extLst>
          </p:cNvPr>
          <p:cNvSpPr/>
          <p:nvPr/>
        </p:nvSpPr>
        <p:spPr>
          <a:xfrm>
            <a:off x="6223000" y="1752600"/>
            <a:ext cx="2908300" cy="3708400"/>
          </a:xfrm>
          <a:prstGeom prst="roundRect">
            <a:avLst/>
          </a:prstGeom>
          <a:solidFill>
            <a:srgbClr val="FAFB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C40038-3292-4C40-B57D-A74E68CCA104}"/>
              </a:ext>
            </a:extLst>
          </p:cNvPr>
          <p:cNvSpPr/>
          <p:nvPr/>
        </p:nvSpPr>
        <p:spPr>
          <a:xfrm>
            <a:off x="6223000" y="1752600"/>
            <a:ext cx="2908300" cy="88900"/>
          </a:xfrm>
          <a:prstGeom prst="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D37B3EB-B75B-414C-87C1-215767ABD800}"/>
              </a:ext>
            </a:extLst>
          </p:cNvPr>
          <p:cNvSpPr/>
          <p:nvPr/>
        </p:nvSpPr>
        <p:spPr>
          <a:xfrm>
            <a:off x="7366000" y="1905000"/>
            <a:ext cx="635000" cy="635000"/>
          </a:xfrm>
          <a:prstGeom prst="ellipse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19A580-BB63-4101-9BF0-6831A6AFD08A}"/>
              </a:ext>
            </a:extLst>
          </p:cNvPr>
          <p:cNvSpPr txBox="1"/>
          <p:nvPr/>
        </p:nvSpPr>
        <p:spPr>
          <a:xfrm>
            <a:off x="7366000" y="20574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CFBF15-91DF-48AB-AACE-7C9DE9463FBF}"/>
              </a:ext>
            </a:extLst>
          </p:cNvPr>
          <p:cNvSpPr txBox="1"/>
          <p:nvPr/>
        </p:nvSpPr>
        <p:spPr>
          <a:xfrm>
            <a:off x="6324600" y="2641600"/>
            <a:ext cx="2705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6B35"/>
                </a:solidFill>
              </a:rPr>
              <a:t>Celery
Executor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084D7E-110C-4B20-A281-7BEAFD6C6C29}"/>
              </a:ext>
            </a:extLst>
          </p:cNvPr>
          <p:cNvSpPr txBox="1"/>
          <p:nvPr/>
        </p:nvSpPr>
        <p:spPr>
          <a:xfrm>
            <a:off x="6324600" y="3251200"/>
            <a:ext cx="2705100" cy="154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Distributes tasks across multiple worker nodes via Redis/RabbitMQ. Scales horizontally.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CC6174D-19E9-4B5D-ACAC-37FBBCDF8892}"/>
              </a:ext>
            </a:extLst>
          </p:cNvPr>
          <p:cNvSpPr/>
          <p:nvPr/>
        </p:nvSpPr>
        <p:spPr>
          <a:xfrm>
            <a:off x="6324600" y="4927600"/>
            <a:ext cx="2705100" cy="355600"/>
          </a:xfrm>
          <a:prstGeom prst="round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BB883B-A627-4AAB-8155-D96CAB946303}"/>
              </a:ext>
            </a:extLst>
          </p:cNvPr>
          <p:cNvSpPr txBox="1"/>
          <p:nvPr/>
        </p:nvSpPr>
        <p:spPr>
          <a:xfrm>
            <a:off x="6324600" y="4953000"/>
            <a:ext cx="27051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</a:rPr>
              <a:t>Production, multi-worker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93AE077-E7AB-4B34-8279-08D6C5F2FC52}"/>
              </a:ext>
            </a:extLst>
          </p:cNvPr>
          <p:cNvSpPr/>
          <p:nvPr/>
        </p:nvSpPr>
        <p:spPr>
          <a:xfrm>
            <a:off x="9232900" y="1752600"/>
            <a:ext cx="2908300" cy="3708400"/>
          </a:xfrm>
          <a:prstGeom prst="roundRect">
            <a:avLst/>
          </a:prstGeom>
          <a:solidFill>
            <a:srgbClr val="FAFB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CF8D40-95E6-4C03-AE74-F87AC12AE6B8}"/>
              </a:ext>
            </a:extLst>
          </p:cNvPr>
          <p:cNvSpPr/>
          <p:nvPr/>
        </p:nvSpPr>
        <p:spPr>
          <a:xfrm>
            <a:off x="9232900" y="1752600"/>
            <a:ext cx="2908300" cy="88900"/>
          </a:xfrm>
          <a:prstGeom prst="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3B79703-BF83-4AC1-A989-EE4F26320EDE}"/>
              </a:ext>
            </a:extLst>
          </p:cNvPr>
          <p:cNvSpPr/>
          <p:nvPr/>
        </p:nvSpPr>
        <p:spPr>
          <a:xfrm>
            <a:off x="10375900" y="1905000"/>
            <a:ext cx="635000" cy="635000"/>
          </a:xfrm>
          <a:prstGeom prst="ellipse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8F6373-79C5-4117-83FF-A5A3DE5C9AEF}"/>
              </a:ext>
            </a:extLst>
          </p:cNvPr>
          <p:cNvSpPr txBox="1"/>
          <p:nvPr/>
        </p:nvSpPr>
        <p:spPr>
          <a:xfrm>
            <a:off x="10375900" y="20574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42E409-B20F-4144-96E6-27B49E3D514F}"/>
              </a:ext>
            </a:extLst>
          </p:cNvPr>
          <p:cNvSpPr txBox="1"/>
          <p:nvPr/>
        </p:nvSpPr>
        <p:spPr>
          <a:xfrm>
            <a:off x="9334500" y="2641600"/>
            <a:ext cx="2705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00C0A3"/>
                </a:solidFill>
              </a:rPr>
              <a:t>Kubernetes
Executor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BE09F9-02FE-4320-929C-23B8B689DA49}"/>
              </a:ext>
            </a:extLst>
          </p:cNvPr>
          <p:cNvSpPr txBox="1"/>
          <p:nvPr/>
        </p:nvSpPr>
        <p:spPr>
          <a:xfrm>
            <a:off x="9334500" y="3251200"/>
            <a:ext cx="2705100" cy="154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Each task = its own Pod. True isolation, dynamic scaling, zero idle workers. Cloud-native.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7BE0555-BF22-4E07-A8E9-AFBB1A3D3387}"/>
              </a:ext>
            </a:extLst>
          </p:cNvPr>
          <p:cNvSpPr/>
          <p:nvPr/>
        </p:nvSpPr>
        <p:spPr>
          <a:xfrm>
            <a:off x="9334500" y="4927600"/>
            <a:ext cx="2705100" cy="355600"/>
          </a:xfrm>
          <a:prstGeom prst="round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ED771F-A7FC-40EC-941D-71FA2F95F0CD}"/>
              </a:ext>
            </a:extLst>
          </p:cNvPr>
          <p:cNvSpPr txBox="1"/>
          <p:nvPr/>
        </p:nvSpPr>
        <p:spPr>
          <a:xfrm>
            <a:off x="9334500" y="4953000"/>
            <a:ext cx="27051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</a:rPr>
              <a:t>K8s / cloud-native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E0FFFE3-4A35-4800-8BCC-C093525E3245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rgbClr val="1A1A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89BC2B-A2F2-48AD-B4D7-BE5A9371A1CC}"/>
              </a:ext>
            </a:extLst>
          </p:cNvPr>
          <p:cNvSpPr txBox="1"/>
          <p:nvPr/>
        </p:nvSpPr>
        <p:spPr>
          <a:xfrm>
            <a:off x="203200" y="6375400"/>
            <a:ext cx="11785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★  Production: KubernetesExecutor for cloud-native  |  CeleryExecutor for on-prem multi-worker  |  LocalExecutor for single-node small teams</a:t>
            </a:r>
          </a:p>
        </p:txBody>
      </p:sp>
    </p:spTree>
    <p:extLst>
      <p:ext uri="{BB962C8B-B14F-4D97-AF65-F5344CB8AC3E}">
        <p14:creationId xmlns:p14="http://schemas.microsoft.com/office/powerpoint/2010/main" val="4153743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C365C5-B1FF-43CD-B696-7C38416DD8C1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23CAAA-C887-47AC-B433-F55D793A0675}"/>
              </a:ext>
            </a:extLst>
          </p:cNvPr>
          <p:cNvSpPr txBox="1"/>
          <p:nvPr/>
        </p:nvSpPr>
        <p:spPr>
          <a:xfrm>
            <a:off x="254000" y="127000"/>
            <a:ext cx="1143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</a:rPr>
              <a:t>Workers, Webserver &amp; Metadata Database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5AA1BC-3F67-4896-8280-99D9EE1605A3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316C96-6980-4981-A4BB-525A608EB5E5}"/>
              </a:ext>
            </a:extLst>
          </p:cNvPr>
          <p:cNvSpPr/>
          <p:nvPr/>
        </p:nvSpPr>
        <p:spPr>
          <a:xfrm>
            <a:off x="127000" y="965200"/>
            <a:ext cx="3810000" cy="5080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7B61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EDC7E8-7DB2-4151-99C8-986A79B57E59}"/>
              </a:ext>
            </a:extLst>
          </p:cNvPr>
          <p:cNvSpPr/>
          <p:nvPr/>
        </p:nvSpPr>
        <p:spPr>
          <a:xfrm>
            <a:off x="127000" y="965200"/>
            <a:ext cx="3810000" cy="76200"/>
          </a:xfrm>
          <a:prstGeom prst="rect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4D7EB-FD1D-496A-91C7-687107E0DE50}"/>
              </a:ext>
            </a:extLst>
          </p:cNvPr>
          <p:cNvSpPr txBox="1"/>
          <p:nvPr/>
        </p:nvSpPr>
        <p:spPr>
          <a:xfrm>
            <a:off x="203200" y="1092200"/>
            <a:ext cx="3657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7B61FF"/>
                </a:solidFill>
              </a:rPr>
              <a:t>Worker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5A678B-02B0-4E4A-A867-D92D76DF40CF}"/>
              </a:ext>
            </a:extLst>
          </p:cNvPr>
          <p:cNvSpPr txBox="1"/>
          <p:nvPr/>
        </p:nvSpPr>
        <p:spPr>
          <a:xfrm>
            <a:off x="203200" y="1549400"/>
            <a:ext cx="36576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The Worker is the process that actually executes operator logic. In Celery mode, multiple worker nodes run tasks in parallel across different machines.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4D83F3-8947-468F-BF6A-198701BE474E}"/>
              </a:ext>
            </a:extLst>
          </p:cNvPr>
          <p:cNvSpPr txBox="1"/>
          <p:nvPr/>
        </p:nvSpPr>
        <p:spPr>
          <a:xfrm>
            <a:off x="203200" y="24892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▸  Picks up tasks from the task queue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35F1FE-BD6C-4B98-A288-CD48244174B0}"/>
              </a:ext>
            </a:extLst>
          </p:cNvPr>
          <p:cNvSpPr txBox="1"/>
          <p:nvPr/>
        </p:nvSpPr>
        <p:spPr>
          <a:xfrm>
            <a:off x="203200" y="30988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▸  Runs the operator's execute() method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DB949C-FDFF-4551-9130-764BE738F8AB}"/>
              </a:ext>
            </a:extLst>
          </p:cNvPr>
          <p:cNvSpPr txBox="1"/>
          <p:nvPr/>
        </p:nvSpPr>
        <p:spPr>
          <a:xfrm>
            <a:off x="203200" y="37084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▸  Sends logs back to log storage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01C892-61AE-40BF-81CD-B30C68CB682C}"/>
              </a:ext>
            </a:extLst>
          </p:cNvPr>
          <p:cNvSpPr txBox="1"/>
          <p:nvPr/>
        </p:nvSpPr>
        <p:spPr>
          <a:xfrm>
            <a:off x="203200" y="43180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▸  Reports task status back to Metadata 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16232B-97AB-4584-9413-2A7D6F590565}"/>
              </a:ext>
            </a:extLst>
          </p:cNvPr>
          <p:cNvSpPr txBox="1"/>
          <p:nvPr/>
        </p:nvSpPr>
        <p:spPr>
          <a:xfrm>
            <a:off x="203200" y="49276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▸  Supports auto-scaling (especially in K8s mode)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1257AAE-93AC-4028-8719-1E491A62EDBD}"/>
              </a:ext>
            </a:extLst>
          </p:cNvPr>
          <p:cNvSpPr/>
          <p:nvPr/>
        </p:nvSpPr>
        <p:spPr>
          <a:xfrm>
            <a:off x="4191000" y="965200"/>
            <a:ext cx="3810000" cy="5080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017C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85C495-EEE4-446E-B720-B3D4CAF24FD1}"/>
              </a:ext>
            </a:extLst>
          </p:cNvPr>
          <p:cNvSpPr/>
          <p:nvPr/>
        </p:nvSpPr>
        <p:spPr>
          <a:xfrm>
            <a:off x="4191000" y="965200"/>
            <a:ext cx="3810000" cy="762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F97A3B-0D15-4BBF-B2F3-DA1A2F465462}"/>
              </a:ext>
            </a:extLst>
          </p:cNvPr>
          <p:cNvSpPr txBox="1"/>
          <p:nvPr/>
        </p:nvSpPr>
        <p:spPr>
          <a:xfrm>
            <a:off x="4267200" y="1092200"/>
            <a:ext cx="3657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017CEE"/>
                </a:solidFill>
              </a:rPr>
              <a:t>Webserver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148643-1E1B-47AB-9F43-5103CD737E99}"/>
              </a:ext>
            </a:extLst>
          </p:cNvPr>
          <p:cNvSpPr txBox="1"/>
          <p:nvPr/>
        </p:nvSpPr>
        <p:spPr>
          <a:xfrm>
            <a:off x="4267200" y="1549400"/>
            <a:ext cx="36576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The Webserver provides the Airflow UI and REST API. It reads from the Metadata DB to display DAG status, run history, logs, and task graph views.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1A1864-CAD9-4063-92F2-B5FC0DE5CE42}"/>
              </a:ext>
            </a:extLst>
          </p:cNvPr>
          <p:cNvSpPr txBox="1"/>
          <p:nvPr/>
        </p:nvSpPr>
        <p:spPr>
          <a:xfrm>
            <a:off x="4267200" y="24892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▸  Browse and trigger DAG runs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580344-3AE0-4112-87EB-F8840DA077CC}"/>
              </a:ext>
            </a:extLst>
          </p:cNvPr>
          <p:cNvSpPr txBox="1"/>
          <p:nvPr/>
        </p:nvSpPr>
        <p:spPr>
          <a:xfrm>
            <a:off x="4267200" y="30988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▸  View task logs in real-time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881EA6-DBF5-4B36-B00A-FC0A54F2A071}"/>
              </a:ext>
            </a:extLst>
          </p:cNvPr>
          <p:cNvSpPr txBox="1"/>
          <p:nvPr/>
        </p:nvSpPr>
        <p:spPr>
          <a:xfrm>
            <a:off x="4267200" y="37084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▸  Manage Variables and Connections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9E2EB6-2317-418D-9C7F-FA7017FF5DF6}"/>
              </a:ext>
            </a:extLst>
          </p:cNvPr>
          <p:cNvSpPr txBox="1"/>
          <p:nvPr/>
        </p:nvSpPr>
        <p:spPr>
          <a:xfrm>
            <a:off x="4267200" y="43180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▸  REST API for programmatic access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0E7019-A079-4830-9F3E-29A8FFF9F802}"/>
              </a:ext>
            </a:extLst>
          </p:cNvPr>
          <p:cNvSpPr txBox="1"/>
          <p:nvPr/>
        </p:nvSpPr>
        <p:spPr>
          <a:xfrm>
            <a:off x="4267200" y="49276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▸  Role-based access control (RBAC)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A0ACF75-6FD9-498B-9FC2-E17E0C6A8683}"/>
              </a:ext>
            </a:extLst>
          </p:cNvPr>
          <p:cNvSpPr/>
          <p:nvPr/>
        </p:nvSpPr>
        <p:spPr>
          <a:xfrm>
            <a:off x="8255000" y="965200"/>
            <a:ext cx="3810000" cy="5080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77427C-750C-46DE-A2F8-EA3E586D9F80}"/>
              </a:ext>
            </a:extLst>
          </p:cNvPr>
          <p:cNvSpPr/>
          <p:nvPr/>
        </p:nvSpPr>
        <p:spPr>
          <a:xfrm>
            <a:off x="8255000" y="965200"/>
            <a:ext cx="3810000" cy="762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3899B1-371D-45DA-9766-42C6CE530D31}"/>
              </a:ext>
            </a:extLst>
          </p:cNvPr>
          <p:cNvSpPr txBox="1"/>
          <p:nvPr/>
        </p:nvSpPr>
        <p:spPr>
          <a:xfrm>
            <a:off x="8331200" y="1092200"/>
            <a:ext cx="3657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B020"/>
                </a:solidFill>
              </a:rPr>
              <a:t>Metadata DB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A6B82C-77DC-48D9-A93B-16F7AC95402E}"/>
              </a:ext>
            </a:extLst>
          </p:cNvPr>
          <p:cNvSpPr txBox="1"/>
          <p:nvPr/>
        </p:nvSpPr>
        <p:spPr>
          <a:xfrm>
            <a:off x="8331200" y="1549400"/>
            <a:ext cx="36576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Central state store for the entire Airflow system. PostgreSQL (recommended) or MySQL. Without the Metadata DB, Airflow cannot function.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4C9E54-BAB3-454F-9D7A-B5653600DB2A}"/>
              </a:ext>
            </a:extLst>
          </p:cNvPr>
          <p:cNvSpPr txBox="1"/>
          <p:nvPr/>
        </p:nvSpPr>
        <p:spPr>
          <a:xfrm>
            <a:off x="8331200" y="24892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▸  DAG definitions &amp; run history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292547-BF20-4C9C-ABCD-34F90BF349D7}"/>
              </a:ext>
            </a:extLst>
          </p:cNvPr>
          <p:cNvSpPr txBox="1"/>
          <p:nvPr/>
        </p:nvSpPr>
        <p:spPr>
          <a:xfrm>
            <a:off x="8331200" y="30988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▸  Task instance states &amp; logs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599FD7-C6F2-4755-916E-3D482706C019}"/>
              </a:ext>
            </a:extLst>
          </p:cNvPr>
          <p:cNvSpPr txBox="1"/>
          <p:nvPr/>
        </p:nvSpPr>
        <p:spPr>
          <a:xfrm>
            <a:off x="8331200" y="37084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▸  XComs (cross-task messaging)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5D345D-7EB5-4C32-B9B3-2491294A6FA8}"/>
              </a:ext>
            </a:extLst>
          </p:cNvPr>
          <p:cNvSpPr txBox="1"/>
          <p:nvPr/>
        </p:nvSpPr>
        <p:spPr>
          <a:xfrm>
            <a:off x="8331200" y="43180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▸  Variables &amp; Connections store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A0648A-2BD2-4379-93AC-D539A2BF75CB}"/>
              </a:ext>
            </a:extLst>
          </p:cNvPr>
          <p:cNvSpPr txBox="1"/>
          <p:nvPr/>
        </p:nvSpPr>
        <p:spPr>
          <a:xfrm>
            <a:off x="8331200" y="49276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▸  User accounts and permissions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90E243-F4AA-4068-AF6D-0ED7089CF45B}"/>
              </a:ext>
            </a:extLst>
          </p:cNvPr>
          <p:cNvSpPr/>
          <p:nvPr/>
        </p:nvSpPr>
        <p:spPr>
          <a:xfrm>
            <a:off x="0" y="6197600"/>
            <a:ext cx="12192000" cy="660400"/>
          </a:xfrm>
          <a:prstGeom prst="rect">
            <a:avLst/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6762BD-7C07-454A-80A3-112491B45B9B}"/>
              </a:ext>
            </a:extLst>
          </p:cNvPr>
          <p:cNvSpPr txBox="1"/>
          <p:nvPr/>
        </p:nvSpPr>
        <p:spPr>
          <a:xfrm>
            <a:off x="203200" y="6324600"/>
            <a:ext cx="11785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666666"/>
                </a:solidFill>
              </a:rPr>
              <a:t>Deployment note: Webserver &amp; Scheduler can run on same or separate nodes. Workers scale independently. DB must be HA in production (RDS, CloudSQL, etc.)</a:t>
            </a:r>
          </a:p>
        </p:txBody>
      </p:sp>
    </p:spTree>
    <p:extLst>
      <p:ext uri="{BB962C8B-B14F-4D97-AF65-F5344CB8AC3E}">
        <p14:creationId xmlns:p14="http://schemas.microsoft.com/office/powerpoint/2010/main" val="1061763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0021FF-CA6B-4D45-908C-3CEEDA58ABC0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58BA9-ADD4-4833-889E-FDC744626C7C}"/>
              </a:ext>
            </a:extLst>
          </p:cNvPr>
          <p:cNvSpPr txBox="1"/>
          <p:nvPr/>
        </p:nvSpPr>
        <p:spPr>
          <a:xfrm>
            <a:off x="254000" y="127000"/>
            <a:ext cx="1143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</a:rPr>
              <a:t>Operators &amp; Hooks - Building Task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C32100-AFC2-454A-99BF-6D15A1137B4D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5B8514-2FFB-49A9-BEE0-0CA681793642}"/>
              </a:ext>
            </a:extLst>
          </p:cNvPr>
          <p:cNvSpPr/>
          <p:nvPr/>
        </p:nvSpPr>
        <p:spPr>
          <a:xfrm>
            <a:off x="203200" y="990600"/>
            <a:ext cx="11785600" cy="635000"/>
          </a:xfrm>
          <a:prstGeom prst="roundRect">
            <a:avLst/>
          </a:prstGeom>
          <a:solidFill>
            <a:srgbClr val="F0F7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02B206-F210-4768-A1A8-CD97A8CE0413}"/>
              </a:ext>
            </a:extLst>
          </p:cNvPr>
          <p:cNvSpPr txBox="1"/>
          <p:nvPr/>
        </p:nvSpPr>
        <p:spPr>
          <a:xfrm>
            <a:off x="304800" y="1066800"/>
            <a:ext cx="1158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</a:rPr>
              <a:t>An Operator defines WHAT a task does. A Hook is a reusable interface to an external system. Together, they are the building blocks of every Airflow task.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6A14BF-AC80-4228-A3F0-79B6A14A2326}"/>
              </a:ext>
            </a:extLst>
          </p:cNvPr>
          <p:cNvSpPr/>
          <p:nvPr/>
        </p:nvSpPr>
        <p:spPr>
          <a:xfrm>
            <a:off x="203200" y="1803400"/>
            <a:ext cx="3937000" cy="29972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017C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CBA266-5960-4476-BC17-4414503911C0}"/>
              </a:ext>
            </a:extLst>
          </p:cNvPr>
          <p:cNvSpPr/>
          <p:nvPr/>
        </p:nvSpPr>
        <p:spPr>
          <a:xfrm>
            <a:off x="203200" y="1803400"/>
            <a:ext cx="3937000" cy="762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18E9A0-3E8E-420A-8CD5-D842F1A3A02C}"/>
              </a:ext>
            </a:extLst>
          </p:cNvPr>
          <p:cNvSpPr txBox="1"/>
          <p:nvPr/>
        </p:nvSpPr>
        <p:spPr>
          <a:xfrm>
            <a:off x="304800" y="1930400"/>
            <a:ext cx="3733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17CEE"/>
                </a:solidFill>
              </a:rPr>
              <a:t>Action Operators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D0F263-6548-443D-8061-962516CE714D}"/>
              </a:ext>
            </a:extLst>
          </p:cNvPr>
          <p:cNvSpPr txBox="1"/>
          <p:nvPr/>
        </p:nvSpPr>
        <p:spPr>
          <a:xfrm>
            <a:off x="304800" y="2336800"/>
            <a:ext cx="373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• BashOperator - run shell commands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ABA680-2E3E-4C80-B2BE-00873DC8FCCB}"/>
              </a:ext>
            </a:extLst>
          </p:cNvPr>
          <p:cNvSpPr txBox="1"/>
          <p:nvPr/>
        </p:nvSpPr>
        <p:spPr>
          <a:xfrm>
            <a:off x="304800" y="2921000"/>
            <a:ext cx="373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• PythonOperator - call Python callable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743ABA-BCC9-4C06-984E-A1C6171CA4D9}"/>
              </a:ext>
            </a:extLst>
          </p:cNvPr>
          <p:cNvSpPr txBox="1"/>
          <p:nvPr/>
        </p:nvSpPr>
        <p:spPr>
          <a:xfrm>
            <a:off x="304800" y="3505200"/>
            <a:ext cx="373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• DockerOperator - run in Docker container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407C29-9EBF-43C9-8423-308BB48A8D53}"/>
              </a:ext>
            </a:extLst>
          </p:cNvPr>
          <p:cNvSpPr txBox="1"/>
          <p:nvPr/>
        </p:nvSpPr>
        <p:spPr>
          <a:xfrm>
            <a:off x="304800" y="4089400"/>
            <a:ext cx="373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• SparkSubmitOperator - submit Spark job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D6FF87-0188-4AE6-A19C-6BA031FD6EAF}"/>
              </a:ext>
            </a:extLst>
          </p:cNvPr>
          <p:cNvSpPr/>
          <p:nvPr/>
        </p:nvSpPr>
        <p:spPr>
          <a:xfrm>
            <a:off x="4241800" y="1803400"/>
            <a:ext cx="3937000" cy="29972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F662EB-7F7D-4EF4-9E7F-EBD5AD9BE907}"/>
              </a:ext>
            </a:extLst>
          </p:cNvPr>
          <p:cNvSpPr/>
          <p:nvPr/>
        </p:nvSpPr>
        <p:spPr>
          <a:xfrm>
            <a:off x="4241800" y="1803400"/>
            <a:ext cx="3937000" cy="76200"/>
          </a:xfrm>
          <a:prstGeom prst="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BF5BF9-08A4-4BB3-B600-5B197305DA69}"/>
              </a:ext>
            </a:extLst>
          </p:cNvPr>
          <p:cNvSpPr txBox="1"/>
          <p:nvPr/>
        </p:nvSpPr>
        <p:spPr>
          <a:xfrm>
            <a:off x="4343400" y="1930400"/>
            <a:ext cx="3733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6B35"/>
                </a:solidFill>
              </a:rPr>
              <a:t>Transfer Operators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1D0D64-121F-4AD8-8B80-238AD50CE5B2}"/>
              </a:ext>
            </a:extLst>
          </p:cNvPr>
          <p:cNvSpPr txBox="1"/>
          <p:nvPr/>
        </p:nvSpPr>
        <p:spPr>
          <a:xfrm>
            <a:off x="4343400" y="2336800"/>
            <a:ext cx="373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• S3ToRedshiftOperator - move S3 → Redshift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7348EA-6496-4F5F-93A8-E05D386250D9}"/>
              </a:ext>
            </a:extLst>
          </p:cNvPr>
          <p:cNvSpPr txBox="1"/>
          <p:nvPr/>
        </p:nvSpPr>
        <p:spPr>
          <a:xfrm>
            <a:off x="4343400" y="2921000"/>
            <a:ext cx="373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• PostgresToGCSOperator - PG → GCS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5BEE57-AAE6-47FC-AE8E-EEEAE8578715}"/>
              </a:ext>
            </a:extLst>
          </p:cNvPr>
          <p:cNvSpPr txBox="1"/>
          <p:nvPr/>
        </p:nvSpPr>
        <p:spPr>
          <a:xfrm>
            <a:off x="4343400" y="3505200"/>
            <a:ext cx="373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• MySqlToHiveOperator - MySQL → Hive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E5EC9D-1AE3-484E-B392-8EE8706FFBF6}"/>
              </a:ext>
            </a:extLst>
          </p:cNvPr>
          <p:cNvSpPr txBox="1"/>
          <p:nvPr/>
        </p:nvSpPr>
        <p:spPr>
          <a:xfrm>
            <a:off x="4343400" y="4089400"/>
            <a:ext cx="373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• GCSToBigQueryOperator - GCS → BQ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F190944-5258-428B-B408-8B26A7D83FD6}"/>
              </a:ext>
            </a:extLst>
          </p:cNvPr>
          <p:cNvSpPr/>
          <p:nvPr/>
        </p:nvSpPr>
        <p:spPr>
          <a:xfrm>
            <a:off x="8280400" y="1803400"/>
            <a:ext cx="3937000" cy="29972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00C0A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8B1DA2-8E5D-48EC-9EA9-460610073537}"/>
              </a:ext>
            </a:extLst>
          </p:cNvPr>
          <p:cNvSpPr/>
          <p:nvPr/>
        </p:nvSpPr>
        <p:spPr>
          <a:xfrm>
            <a:off x="8280400" y="1803400"/>
            <a:ext cx="3937000" cy="76200"/>
          </a:xfrm>
          <a:prstGeom prst="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022317-A270-4589-A059-1671F977F174}"/>
              </a:ext>
            </a:extLst>
          </p:cNvPr>
          <p:cNvSpPr txBox="1"/>
          <p:nvPr/>
        </p:nvSpPr>
        <p:spPr>
          <a:xfrm>
            <a:off x="8382000" y="1930400"/>
            <a:ext cx="3733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0C0A3"/>
                </a:solidFill>
              </a:rPr>
              <a:t>Sensor Operators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3E8713-8F32-4A60-90DE-09E2E178944D}"/>
              </a:ext>
            </a:extLst>
          </p:cNvPr>
          <p:cNvSpPr txBox="1"/>
          <p:nvPr/>
        </p:nvSpPr>
        <p:spPr>
          <a:xfrm>
            <a:off x="8382000" y="2336800"/>
            <a:ext cx="373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• FileSensor - wait for file to appear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25B157-CFFE-44F6-807D-6757B0E67682}"/>
              </a:ext>
            </a:extLst>
          </p:cNvPr>
          <p:cNvSpPr txBox="1"/>
          <p:nvPr/>
        </p:nvSpPr>
        <p:spPr>
          <a:xfrm>
            <a:off x="8382000" y="2921000"/>
            <a:ext cx="373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• HttpSensor - wait for HTTP 200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586C08-B9A3-4864-8F5B-96E346820608}"/>
              </a:ext>
            </a:extLst>
          </p:cNvPr>
          <p:cNvSpPr txBox="1"/>
          <p:nvPr/>
        </p:nvSpPr>
        <p:spPr>
          <a:xfrm>
            <a:off x="8382000" y="3505200"/>
            <a:ext cx="373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• ExternalTaskSensor - wait for another DAG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CF2C0E-58BF-4CBC-A686-39FE9285E5D2}"/>
              </a:ext>
            </a:extLst>
          </p:cNvPr>
          <p:cNvSpPr txBox="1"/>
          <p:nvPr/>
        </p:nvSpPr>
        <p:spPr>
          <a:xfrm>
            <a:off x="8382000" y="4089400"/>
            <a:ext cx="373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• S3KeySensor - wait for S3 key/file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1181C4-B9CF-4793-B724-52F264A0C9BE}"/>
              </a:ext>
            </a:extLst>
          </p:cNvPr>
          <p:cNvSpPr txBox="1"/>
          <p:nvPr/>
        </p:nvSpPr>
        <p:spPr>
          <a:xfrm>
            <a:off x="203200" y="49530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999999"/>
                </a:solidFill>
              </a:rPr>
              <a:t>Hooks - Connection Layer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7BCA8C9-406D-42A0-9C8C-8D2A6DEFB1B6}"/>
              </a:ext>
            </a:extLst>
          </p:cNvPr>
          <p:cNvSpPr/>
          <p:nvPr/>
        </p:nvSpPr>
        <p:spPr>
          <a:xfrm>
            <a:off x="203200" y="5283200"/>
            <a:ext cx="2908300" cy="13208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017C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1C7CEE-3ED2-4ED9-86C5-395351EE45B7}"/>
              </a:ext>
            </a:extLst>
          </p:cNvPr>
          <p:cNvSpPr txBox="1"/>
          <p:nvPr/>
        </p:nvSpPr>
        <p:spPr>
          <a:xfrm>
            <a:off x="304800" y="53848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17CEE"/>
                </a:solidFill>
              </a:rPr>
              <a:t>PostgresHook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CE8D43-4B79-41F9-918A-565E607D687B}"/>
              </a:ext>
            </a:extLst>
          </p:cNvPr>
          <p:cNvSpPr txBox="1"/>
          <p:nvPr/>
        </p:nvSpPr>
        <p:spPr>
          <a:xfrm>
            <a:off x="304800" y="5740400"/>
            <a:ext cx="27051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Connect to PostgreSQL. Exposes get_conn(), run(), get_records(). Used by PostgresOperator.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D540713-FDA0-4C0C-9D1E-7F2E6BA485A5}"/>
              </a:ext>
            </a:extLst>
          </p:cNvPr>
          <p:cNvSpPr/>
          <p:nvPr/>
        </p:nvSpPr>
        <p:spPr>
          <a:xfrm>
            <a:off x="3213100" y="5283200"/>
            <a:ext cx="2908300" cy="13208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E50CC3-8C2E-4A92-B901-AD7E5B62E6FB}"/>
              </a:ext>
            </a:extLst>
          </p:cNvPr>
          <p:cNvSpPr txBox="1"/>
          <p:nvPr/>
        </p:nvSpPr>
        <p:spPr>
          <a:xfrm>
            <a:off x="3314700" y="53848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6B35"/>
                </a:solidFill>
              </a:rPr>
              <a:t>S3Hook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FE9D2D-A345-46FC-9AFD-1A74A9A3BB47}"/>
              </a:ext>
            </a:extLst>
          </p:cNvPr>
          <p:cNvSpPr txBox="1"/>
          <p:nvPr/>
        </p:nvSpPr>
        <p:spPr>
          <a:xfrm>
            <a:off x="3314700" y="5740400"/>
            <a:ext cx="27051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Boto3 wrapper for AWS S3. List, read, write, copy objects. Used across S3 operators.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070781D-C2AB-40C7-8B71-8F18AC21F8DD}"/>
              </a:ext>
            </a:extLst>
          </p:cNvPr>
          <p:cNvSpPr/>
          <p:nvPr/>
        </p:nvSpPr>
        <p:spPr>
          <a:xfrm>
            <a:off x="6223000" y="5283200"/>
            <a:ext cx="2908300" cy="13208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00C0A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26DD0D-BCC9-4646-951D-2AA95D912EED}"/>
              </a:ext>
            </a:extLst>
          </p:cNvPr>
          <p:cNvSpPr txBox="1"/>
          <p:nvPr/>
        </p:nvSpPr>
        <p:spPr>
          <a:xfrm>
            <a:off x="6324600" y="53848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0C0A3"/>
                </a:solidFill>
              </a:rPr>
              <a:t>HttpHook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4290BE-CD4B-4A2F-A52B-8A9315C306E2}"/>
              </a:ext>
            </a:extLst>
          </p:cNvPr>
          <p:cNvSpPr txBox="1"/>
          <p:nvPr/>
        </p:nvSpPr>
        <p:spPr>
          <a:xfrm>
            <a:off x="6324600" y="5740400"/>
            <a:ext cx="27051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Reusable HTTP client. Manages retries, auth, base URL. Used by HttpOperator &amp; custom tasks.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6DBA816-1725-492D-BE51-4FF113FE7047}"/>
              </a:ext>
            </a:extLst>
          </p:cNvPr>
          <p:cNvSpPr/>
          <p:nvPr/>
        </p:nvSpPr>
        <p:spPr>
          <a:xfrm>
            <a:off x="9232900" y="5283200"/>
            <a:ext cx="2908300" cy="13208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7B61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27B541-E490-4229-A736-6E9609719D6D}"/>
              </a:ext>
            </a:extLst>
          </p:cNvPr>
          <p:cNvSpPr txBox="1"/>
          <p:nvPr/>
        </p:nvSpPr>
        <p:spPr>
          <a:xfrm>
            <a:off x="9334500" y="53848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7B61FF"/>
                </a:solidFill>
              </a:rPr>
              <a:t>SparkSQLHook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C0A430-0E58-49C7-93D9-8FBC21F3323B}"/>
              </a:ext>
            </a:extLst>
          </p:cNvPr>
          <p:cNvSpPr txBox="1"/>
          <p:nvPr/>
        </p:nvSpPr>
        <p:spPr>
          <a:xfrm>
            <a:off x="9334500" y="5740400"/>
            <a:ext cx="27051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Submit queries to Spark SQL. Manages session, connection pooling, and query lifecycle.</a:t>
            </a:r>
          </a:p>
        </p:txBody>
      </p:sp>
    </p:spTree>
    <p:extLst>
      <p:ext uri="{BB962C8B-B14F-4D97-AF65-F5344CB8AC3E}">
        <p14:creationId xmlns:p14="http://schemas.microsoft.com/office/powerpoint/2010/main" val="1991559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D8EC87-6023-4A4B-B053-FA0DDA1704DE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B79B4-E0E9-4863-98B8-F6E35D04229D}"/>
              </a:ext>
            </a:extLst>
          </p:cNvPr>
          <p:cNvSpPr txBox="1"/>
          <p:nvPr/>
        </p:nvSpPr>
        <p:spPr>
          <a:xfrm>
            <a:off x="254000" y="127000"/>
            <a:ext cx="1143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</a:rPr>
              <a:t>Airflow in Data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24F860-0252-497C-BD4E-CE12B4E0AB28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3E4A9C4-A99D-48FD-981C-017339E87E4C}"/>
              </a:ext>
            </a:extLst>
          </p:cNvPr>
          <p:cNvSpPr/>
          <p:nvPr/>
        </p:nvSpPr>
        <p:spPr>
          <a:xfrm>
            <a:off x="203200" y="990600"/>
            <a:ext cx="11785600" cy="660400"/>
          </a:xfrm>
          <a:prstGeom prst="roundRect">
            <a:avLst/>
          </a:prstGeom>
          <a:solidFill>
            <a:srgbClr val="F0F7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62A8C3-B2B8-4372-A89F-E9A743FC6FA6}"/>
              </a:ext>
            </a:extLst>
          </p:cNvPr>
          <p:cNvSpPr txBox="1"/>
          <p:nvPr/>
        </p:nvSpPr>
        <p:spPr>
          <a:xfrm>
            <a:off x="304800" y="1066800"/>
            <a:ext cx="11582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</a:rPr>
              <a:t>Airflow is the de-facto standard for orchestrating data pipelines in modern Data Engineering stacks. It manages ETL/ELT, data quality checks, warehouse loading, and dbt model runs.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FAB8B1-A463-4832-9EDB-9EEAAE07A0EC}"/>
              </a:ext>
            </a:extLst>
          </p:cNvPr>
          <p:cNvSpPr/>
          <p:nvPr/>
        </p:nvSpPr>
        <p:spPr>
          <a:xfrm>
            <a:off x="101600" y="1879600"/>
            <a:ext cx="2286000" cy="1600200"/>
          </a:xfrm>
          <a:prstGeom prst="roundRect">
            <a:avLst/>
          </a:prstGeom>
          <a:solidFill>
            <a:srgbClr val="1A1A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86CA0-9367-4E14-91F0-A8F4FB03B465}"/>
              </a:ext>
            </a:extLst>
          </p:cNvPr>
          <p:cNvSpPr txBox="1"/>
          <p:nvPr/>
        </p:nvSpPr>
        <p:spPr>
          <a:xfrm>
            <a:off x="152400" y="1981200"/>
            <a:ext cx="2184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SOURCE
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194F98-BFA8-4777-95CC-25C1AD9EF36D}"/>
              </a:ext>
            </a:extLst>
          </p:cNvPr>
          <p:cNvSpPr txBox="1"/>
          <p:nvPr/>
        </p:nvSpPr>
        <p:spPr>
          <a:xfrm>
            <a:off x="152400" y="2489200"/>
            <a:ext cx="21844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</a:rPr>
              <a:t>RDBMS / APIs
Event Streams
File Drops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EAE2146-1CC2-42DF-9B15-3AA2A0ACB658}"/>
              </a:ext>
            </a:extLst>
          </p:cNvPr>
          <p:cNvSpPr/>
          <p:nvPr/>
        </p:nvSpPr>
        <p:spPr>
          <a:xfrm>
            <a:off x="2413000" y="2514600"/>
            <a:ext cx="177800" cy="1778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472B02-D320-4924-8F61-181FA6682EC3}"/>
              </a:ext>
            </a:extLst>
          </p:cNvPr>
          <p:cNvSpPr/>
          <p:nvPr/>
        </p:nvSpPr>
        <p:spPr>
          <a:xfrm>
            <a:off x="2514600" y="1879600"/>
            <a:ext cx="2286000" cy="1600200"/>
          </a:xfrm>
          <a:prstGeom prst="round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2832B1-F0C5-4BDF-91F6-8728BA7A5A52}"/>
              </a:ext>
            </a:extLst>
          </p:cNvPr>
          <p:cNvSpPr txBox="1"/>
          <p:nvPr/>
        </p:nvSpPr>
        <p:spPr>
          <a:xfrm>
            <a:off x="2565400" y="1981200"/>
            <a:ext cx="2184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INGEST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F2DEBE-80F3-4E31-B91A-1E3A7DF928A3}"/>
              </a:ext>
            </a:extLst>
          </p:cNvPr>
          <p:cNvSpPr txBox="1"/>
          <p:nvPr/>
        </p:nvSpPr>
        <p:spPr>
          <a:xfrm>
            <a:off x="2565400" y="2489200"/>
            <a:ext cx="21844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</a:rPr>
              <a:t>Kafka
Firehose
Batch Extract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02145F3-95FC-4BA9-A3DC-C29140F68EF6}"/>
              </a:ext>
            </a:extLst>
          </p:cNvPr>
          <p:cNvSpPr/>
          <p:nvPr/>
        </p:nvSpPr>
        <p:spPr>
          <a:xfrm>
            <a:off x="4826000" y="2514600"/>
            <a:ext cx="177800" cy="1778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2EA2C94-FDB3-41DA-ABD9-05A4D71827F7}"/>
              </a:ext>
            </a:extLst>
          </p:cNvPr>
          <p:cNvSpPr/>
          <p:nvPr/>
        </p:nvSpPr>
        <p:spPr>
          <a:xfrm>
            <a:off x="4927600" y="1879600"/>
            <a:ext cx="2286000" cy="1600200"/>
          </a:xfrm>
          <a:prstGeom prst="round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4833C-4EA4-42EE-87B0-F07F73682F40}"/>
              </a:ext>
            </a:extLst>
          </p:cNvPr>
          <p:cNvSpPr txBox="1"/>
          <p:nvPr/>
        </p:nvSpPr>
        <p:spPr>
          <a:xfrm>
            <a:off x="4978400" y="1981200"/>
            <a:ext cx="2184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RAW
Landing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02AD9A-3B37-4185-9CAC-7BCC4D04467B}"/>
              </a:ext>
            </a:extLst>
          </p:cNvPr>
          <p:cNvSpPr txBox="1"/>
          <p:nvPr/>
        </p:nvSpPr>
        <p:spPr>
          <a:xfrm>
            <a:off x="4978400" y="2489200"/>
            <a:ext cx="21844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</a:rPr>
              <a:t>S3 / GCS
ADLS
HDFS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D9F8B2C-D594-4C0B-AF99-DA48AC710C14}"/>
              </a:ext>
            </a:extLst>
          </p:cNvPr>
          <p:cNvSpPr/>
          <p:nvPr/>
        </p:nvSpPr>
        <p:spPr>
          <a:xfrm>
            <a:off x="7239000" y="2514600"/>
            <a:ext cx="177800" cy="1778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35EEDD-437C-4238-8F91-D216A7D0B0EA}"/>
              </a:ext>
            </a:extLst>
          </p:cNvPr>
          <p:cNvSpPr/>
          <p:nvPr/>
        </p:nvSpPr>
        <p:spPr>
          <a:xfrm>
            <a:off x="7340600" y="1879600"/>
            <a:ext cx="2286000" cy="1600200"/>
          </a:xfrm>
          <a:prstGeom prst="round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AC30D1-EDC9-434D-B96D-152D9F80DFDF}"/>
              </a:ext>
            </a:extLst>
          </p:cNvPr>
          <p:cNvSpPr txBox="1"/>
          <p:nvPr/>
        </p:nvSpPr>
        <p:spPr>
          <a:xfrm>
            <a:off x="7391400" y="1981200"/>
            <a:ext cx="2184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7D3D91-C3C3-456E-917A-1BB32BE0065D}"/>
              </a:ext>
            </a:extLst>
          </p:cNvPr>
          <p:cNvSpPr txBox="1"/>
          <p:nvPr/>
        </p:nvSpPr>
        <p:spPr>
          <a:xfrm>
            <a:off x="7391400" y="2489200"/>
            <a:ext cx="21844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</a:rPr>
              <a:t>Spark / dbt
Pandas / SQL
Cleaning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32419B94-C9C9-4AF6-9E7C-583B01805446}"/>
              </a:ext>
            </a:extLst>
          </p:cNvPr>
          <p:cNvSpPr/>
          <p:nvPr/>
        </p:nvSpPr>
        <p:spPr>
          <a:xfrm>
            <a:off x="9652000" y="2514600"/>
            <a:ext cx="177800" cy="1778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3066476-F40B-4511-B327-8E335A9C2BB9}"/>
              </a:ext>
            </a:extLst>
          </p:cNvPr>
          <p:cNvSpPr/>
          <p:nvPr/>
        </p:nvSpPr>
        <p:spPr>
          <a:xfrm>
            <a:off x="9753600" y="1879600"/>
            <a:ext cx="2286000" cy="1600200"/>
          </a:xfrm>
          <a:prstGeom prst="roundRect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3D52C6-26F4-4BC5-B737-927AFE6BDF13}"/>
              </a:ext>
            </a:extLst>
          </p:cNvPr>
          <p:cNvSpPr txBox="1"/>
          <p:nvPr/>
        </p:nvSpPr>
        <p:spPr>
          <a:xfrm>
            <a:off x="9804400" y="1981200"/>
            <a:ext cx="2184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LOAD
Warehouse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901D6B-5C53-4F93-852C-1648BA865F13}"/>
              </a:ext>
            </a:extLst>
          </p:cNvPr>
          <p:cNvSpPr txBox="1"/>
          <p:nvPr/>
        </p:nvSpPr>
        <p:spPr>
          <a:xfrm>
            <a:off x="9804400" y="2489200"/>
            <a:ext cx="21844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</a:rPr>
              <a:t>Snowflake
BigQuery
Redshift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332008-BAB8-4887-B522-9EAE8E5ED4B0}"/>
              </a:ext>
            </a:extLst>
          </p:cNvPr>
          <p:cNvSpPr/>
          <p:nvPr/>
        </p:nvSpPr>
        <p:spPr>
          <a:xfrm>
            <a:off x="101600" y="3556000"/>
            <a:ext cx="11988800" cy="381000"/>
          </a:xfrm>
          <a:prstGeom prst="rect">
            <a:avLst/>
          </a:prstGeom>
          <a:solidFill>
            <a:srgbClr val="F0F7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D80BFE-C958-4AC0-9F90-89DDC342C909}"/>
              </a:ext>
            </a:extLst>
          </p:cNvPr>
          <p:cNvSpPr txBox="1"/>
          <p:nvPr/>
        </p:nvSpPr>
        <p:spPr>
          <a:xfrm>
            <a:off x="203200" y="3606800"/>
            <a:ext cx="11785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17CEE"/>
                </a:solidFill>
              </a:rPr>
              <a:t>↓  Airflow orchestrates every step above as individual DAG tasks - with retries, monitoring, alerting, and dependency management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43E570-3D87-47FF-8AEE-46D4C5C821E4}"/>
              </a:ext>
            </a:extLst>
          </p:cNvPr>
          <p:cNvSpPr txBox="1"/>
          <p:nvPr/>
        </p:nvSpPr>
        <p:spPr>
          <a:xfrm>
            <a:off x="203200" y="4064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999999"/>
                </a:solidFill>
              </a:rPr>
              <a:t>Real-World Use Cases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F0A7B6E-AF38-4231-AB0B-4861A216744D}"/>
              </a:ext>
            </a:extLst>
          </p:cNvPr>
          <p:cNvSpPr/>
          <p:nvPr/>
        </p:nvSpPr>
        <p:spPr>
          <a:xfrm>
            <a:off x="203200" y="4343400"/>
            <a:ext cx="2908300" cy="21082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017C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5FD32E-8727-4D0E-BA9D-00FF8AA49303}"/>
              </a:ext>
            </a:extLst>
          </p:cNvPr>
          <p:cNvSpPr/>
          <p:nvPr/>
        </p:nvSpPr>
        <p:spPr>
          <a:xfrm>
            <a:off x="203200" y="4343400"/>
            <a:ext cx="2908300" cy="635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F1EF35-B04D-4C82-BB03-EDDDE8F70708}"/>
              </a:ext>
            </a:extLst>
          </p:cNvPr>
          <p:cNvSpPr txBox="1"/>
          <p:nvPr/>
        </p:nvSpPr>
        <p:spPr>
          <a:xfrm>
            <a:off x="304800" y="44704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17CEE"/>
                </a:solidFill>
              </a:rPr>
              <a:t>ETL Pipeline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1D7603-CA36-4276-9369-27A9C8754F42}"/>
              </a:ext>
            </a:extLst>
          </p:cNvPr>
          <p:cNvSpPr txBox="1"/>
          <p:nvPr/>
        </p:nvSpPr>
        <p:spPr>
          <a:xfrm>
            <a:off x="304800" y="4851400"/>
            <a:ext cx="2705100" cy="154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Daily batch extraction from OLTP → transformation → load to Snowflake. Retries on failure. SLA monitoring.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C15348A-55B5-497D-B89D-74AB9D94B29E}"/>
              </a:ext>
            </a:extLst>
          </p:cNvPr>
          <p:cNvSpPr/>
          <p:nvPr/>
        </p:nvSpPr>
        <p:spPr>
          <a:xfrm>
            <a:off x="3213100" y="4343400"/>
            <a:ext cx="2908300" cy="21082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00C0A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186AD0-9D90-4EBE-94E9-D697C7FF71E0}"/>
              </a:ext>
            </a:extLst>
          </p:cNvPr>
          <p:cNvSpPr/>
          <p:nvPr/>
        </p:nvSpPr>
        <p:spPr>
          <a:xfrm>
            <a:off x="3213100" y="4343400"/>
            <a:ext cx="2908300" cy="63500"/>
          </a:xfrm>
          <a:prstGeom prst="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6272EF-0E43-4CD8-8847-8327F07F7AE7}"/>
              </a:ext>
            </a:extLst>
          </p:cNvPr>
          <p:cNvSpPr txBox="1"/>
          <p:nvPr/>
        </p:nvSpPr>
        <p:spPr>
          <a:xfrm>
            <a:off x="3314700" y="44704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0C0A3"/>
                </a:solidFill>
              </a:rPr>
              <a:t>dbt Orchestration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DEC5F6-0FCF-4AFC-AABE-62BC237AC1C4}"/>
              </a:ext>
            </a:extLst>
          </p:cNvPr>
          <p:cNvSpPr txBox="1"/>
          <p:nvPr/>
        </p:nvSpPr>
        <p:spPr>
          <a:xfrm>
            <a:off x="3314700" y="4851400"/>
            <a:ext cx="2705100" cy="154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Run dbt models in dependency order. Test data quality after models. Re-run on failure without re-extracting.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EDEF701-BA31-4488-8E80-10D4C19CBAEE}"/>
              </a:ext>
            </a:extLst>
          </p:cNvPr>
          <p:cNvSpPr/>
          <p:nvPr/>
        </p:nvSpPr>
        <p:spPr>
          <a:xfrm>
            <a:off x="6223000" y="4343400"/>
            <a:ext cx="2908300" cy="21082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F4C3A3-E59E-4541-820E-1C9FA0C3B571}"/>
              </a:ext>
            </a:extLst>
          </p:cNvPr>
          <p:cNvSpPr/>
          <p:nvPr/>
        </p:nvSpPr>
        <p:spPr>
          <a:xfrm>
            <a:off x="6223000" y="4343400"/>
            <a:ext cx="2908300" cy="63500"/>
          </a:xfrm>
          <a:prstGeom prst="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5994C4-B334-4275-AD46-095809C381C1}"/>
              </a:ext>
            </a:extLst>
          </p:cNvPr>
          <p:cNvSpPr txBox="1"/>
          <p:nvPr/>
        </p:nvSpPr>
        <p:spPr>
          <a:xfrm>
            <a:off x="6324600" y="44704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6B35"/>
                </a:solidFill>
              </a:rPr>
              <a:t>Data Quality Checks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88139F-DAC9-40A2-B29D-88A2B0540AAA}"/>
              </a:ext>
            </a:extLst>
          </p:cNvPr>
          <p:cNvSpPr txBox="1"/>
          <p:nvPr/>
        </p:nvSpPr>
        <p:spPr>
          <a:xfrm>
            <a:off x="6324600" y="4851400"/>
            <a:ext cx="2705100" cy="154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Great Expectations / custom SQL checks after each transformation stage. Halt pipeline on schema drift.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C026913-08A1-4409-B832-02D73140DDFC}"/>
              </a:ext>
            </a:extLst>
          </p:cNvPr>
          <p:cNvSpPr/>
          <p:nvPr/>
        </p:nvSpPr>
        <p:spPr>
          <a:xfrm>
            <a:off x="9232900" y="4343400"/>
            <a:ext cx="2908300" cy="21082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7B61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F02D29-799F-44AC-9E37-5F74F410D83F}"/>
              </a:ext>
            </a:extLst>
          </p:cNvPr>
          <p:cNvSpPr/>
          <p:nvPr/>
        </p:nvSpPr>
        <p:spPr>
          <a:xfrm>
            <a:off x="9232900" y="4343400"/>
            <a:ext cx="2908300" cy="63500"/>
          </a:xfrm>
          <a:prstGeom prst="rect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8DB941-DF31-4767-89DD-687275F26CA5}"/>
              </a:ext>
            </a:extLst>
          </p:cNvPr>
          <p:cNvSpPr txBox="1"/>
          <p:nvPr/>
        </p:nvSpPr>
        <p:spPr>
          <a:xfrm>
            <a:off x="9334500" y="44704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7B61FF"/>
                </a:solidFill>
              </a:rPr>
              <a:t>Event-Driven Pipelines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207112-1C0F-4D55-8B66-1591325461CC}"/>
              </a:ext>
            </a:extLst>
          </p:cNvPr>
          <p:cNvSpPr txBox="1"/>
          <p:nvPr/>
        </p:nvSpPr>
        <p:spPr>
          <a:xfrm>
            <a:off x="9334500" y="4851400"/>
            <a:ext cx="2705100" cy="154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S3 sensor waits for file drop, triggers downstream ETL. No polling loop - Airflow handles the wait.</a:t>
            </a:r>
          </a:p>
        </p:txBody>
      </p:sp>
    </p:spTree>
    <p:extLst>
      <p:ext uri="{BB962C8B-B14F-4D97-AF65-F5344CB8AC3E}">
        <p14:creationId xmlns:p14="http://schemas.microsoft.com/office/powerpoint/2010/main" val="3328461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D6DE9-4FE5-44D6-AB4C-17330EB463C4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2D312-B785-4B44-9894-8DEBC1DCE17D}"/>
              </a:ext>
            </a:extLst>
          </p:cNvPr>
          <p:cNvSpPr txBox="1"/>
          <p:nvPr/>
        </p:nvSpPr>
        <p:spPr>
          <a:xfrm>
            <a:off x="254000" y="127000"/>
            <a:ext cx="1143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</a:rPr>
              <a:t>Airflow in MLOps - ML Pipeline Orchestration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AABB42-D4F2-4B70-AA84-26F3A64DBAB1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ACDDA18-5592-49E4-B517-9406213E7F8E}"/>
              </a:ext>
            </a:extLst>
          </p:cNvPr>
          <p:cNvSpPr/>
          <p:nvPr/>
        </p:nvSpPr>
        <p:spPr>
          <a:xfrm>
            <a:off x="203200" y="990600"/>
            <a:ext cx="11785600" cy="660400"/>
          </a:xfrm>
          <a:prstGeom prst="roundRect">
            <a:avLst/>
          </a:prstGeom>
          <a:solidFill>
            <a:srgbClr val="F5F0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8AFA8D-9971-4372-BF08-0EDE62517567}"/>
              </a:ext>
            </a:extLst>
          </p:cNvPr>
          <p:cNvSpPr txBox="1"/>
          <p:nvPr/>
        </p:nvSpPr>
        <p:spPr>
          <a:xfrm>
            <a:off x="304800" y="1066800"/>
            <a:ext cx="11582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</a:rPr>
              <a:t>In MLOps, Airflow orchestrates the entire ML lifecycle - data prep, feature engineering, model training, evaluation, deployment, and monitoring - as automated, reproducible pipelines.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0C5A8E-FB4C-4DB9-A8F6-AA8609F32163}"/>
              </a:ext>
            </a:extLst>
          </p:cNvPr>
          <p:cNvSpPr/>
          <p:nvPr/>
        </p:nvSpPr>
        <p:spPr>
          <a:xfrm>
            <a:off x="101600" y="1879600"/>
            <a:ext cx="2286000" cy="1651000"/>
          </a:xfrm>
          <a:prstGeom prst="round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CDEFB0-BE35-43EF-BADF-1DCAED078071}"/>
              </a:ext>
            </a:extLst>
          </p:cNvPr>
          <p:cNvSpPr txBox="1"/>
          <p:nvPr/>
        </p:nvSpPr>
        <p:spPr>
          <a:xfrm>
            <a:off x="152400" y="1981200"/>
            <a:ext cx="2184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Data
Prep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B13ADE-24F8-41AF-855B-5C052170621B}"/>
              </a:ext>
            </a:extLst>
          </p:cNvPr>
          <p:cNvSpPr txBox="1"/>
          <p:nvPr/>
        </p:nvSpPr>
        <p:spPr>
          <a:xfrm>
            <a:off x="152400" y="2489200"/>
            <a:ext cx="21844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</a:rPr>
              <a:t>Feature eng.
Normalization
Splitting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9324E3E-B047-4F5E-BD79-B067C243D58F}"/>
              </a:ext>
            </a:extLst>
          </p:cNvPr>
          <p:cNvSpPr/>
          <p:nvPr/>
        </p:nvSpPr>
        <p:spPr>
          <a:xfrm>
            <a:off x="2413000" y="2540000"/>
            <a:ext cx="177800" cy="1778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4A72D7D-25EF-4AB5-B7F4-EED4D2502202}"/>
              </a:ext>
            </a:extLst>
          </p:cNvPr>
          <p:cNvSpPr/>
          <p:nvPr/>
        </p:nvSpPr>
        <p:spPr>
          <a:xfrm>
            <a:off x="2514600" y="1879600"/>
            <a:ext cx="2286000" cy="1651000"/>
          </a:xfrm>
          <a:prstGeom prst="roundRect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BB98CF-45DB-4D90-9033-BFCE87BFABEB}"/>
              </a:ext>
            </a:extLst>
          </p:cNvPr>
          <p:cNvSpPr txBox="1"/>
          <p:nvPr/>
        </p:nvSpPr>
        <p:spPr>
          <a:xfrm>
            <a:off x="2565400" y="1981200"/>
            <a:ext cx="2184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Train
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1C5619-5D83-4F20-B26D-77DF8AA0AEA3}"/>
              </a:ext>
            </a:extLst>
          </p:cNvPr>
          <p:cNvSpPr txBox="1"/>
          <p:nvPr/>
        </p:nvSpPr>
        <p:spPr>
          <a:xfrm>
            <a:off x="2565400" y="2489200"/>
            <a:ext cx="21844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</a:rPr>
              <a:t>Sklearn / TF
PyTorch
XGBoost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BB63A5A-886B-40D7-9504-164F8F94EBD5}"/>
              </a:ext>
            </a:extLst>
          </p:cNvPr>
          <p:cNvSpPr/>
          <p:nvPr/>
        </p:nvSpPr>
        <p:spPr>
          <a:xfrm>
            <a:off x="4826000" y="2540000"/>
            <a:ext cx="177800" cy="1778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F1FF07-7153-44E7-89A7-475A8C9CB5F2}"/>
              </a:ext>
            </a:extLst>
          </p:cNvPr>
          <p:cNvSpPr/>
          <p:nvPr/>
        </p:nvSpPr>
        <p:spPr>
          <a:xfrm>
            <a:off x="4927600" y="1879600"/>
            <a:ext cx="2286000" cy="1651000"/>
          </a:xfrm>
          <a:prstGeom prst="round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4D8BC2-356E-47A7-9AF1-C29816AF9E01}"/>
              </a:ext>
            </a:extLst>
          </p:cNvPr>
          <p:cNvSpPr txBox="1"/>
          <p:nvPr/>
        </p:nvSpPr>
        <p:spPr>
          <a:xfrm>
            <a:off x="4978400" y="1981200"/>
            <a:ext cx="2184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Evaluate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DEB16F-C3F1-4073-A1D3-D4B65A12A663}"/>
              </a:ext>
            </a:extLst>
          </p:cNvPr>
          <p:cNvSpPr txBox="1"/>
          <p:nvPr/>
        </p:nvSpPr>
        <p:spPr>
          <a:xfrm>
            <a:off x="4978400" y="2489200"/>
            <a:ext cx="21844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</a:rPr>
              <a:t>Accuracy
F1 / AUC
A/B metrics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7351A57-6830-4BF9-8236-CC54DDEC1D8A}"/>
              </a:ext>
            </a:extLst>
          </p:cNvPr>
          <p:cNvSpPr/>
          <p:nvPr/>
        </p:nvSpPr>
        <p:spPr>
          <a:xfrm>
            <a:off x="7239000" y="2540000"/>
            <a:ext cx="177800" cy="1778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78AED37-B7CE-479F-9176-7BB17E234FDF}"/>
              </a:ext>
            </a:extLst>
          </p:cNvPr>
          <p:cNvSpPr/>
          <p:nvPr/>
        </p:nvSpPr>
        <p:spPr>
          <a:xfrm>
            <a:off x="7340600" y="1879600"/>
            <a:ext cx="2286000" cy="1651000"/>
          </a:xfrm>
          <a:prstGeom prst="round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B0BA79-667E-4D65-9152-95F658A2B77C}"/>
              </a:ext>
            </a:extLst>
          </p:cNvPr>
          <p:cNvSpPr txBox="1"/>
          <p:nvPr/>
        </p:nvSpPr>
        <p:spPr>
          <a:xfrm>
            <a:off x="7391400" y="1981200"/>
            <a:ext cx="2184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Register
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ADCE07-5E11-4562-8EA9-32BB1A179CE6}"/>
              </a:ext>
            </a:extLst>
          </p:cNvPr>
          <p:cNvSpPr txBox="1"/>
          <p:nvPr/>
        </p:nvSpPr>
        <p:spPr>
          <a:xfrm>
            <a:off x="7391400" y="2489200"/>
            <a:ext cx="21844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</a:rPr>
              <a:t>MLflow
Model Registry
Versioning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E41C8003-0EAB-41A4-A99C-CB9C8FB1D501}"/>
              </a:ext>
            </a:extLst>
          </p:cNvPr>
          <p:cNvSpPr/>
          <p:nvPr/>
        </p:nvSpPr>
        <p:spPr>
          <a:xfrm>
            <a:off x="9652000" y="2540000"/>
            <a:ext cx="177800" cy="1778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F2F9E6F-05F7-4784-8D13-C69C8DBF4B0E}"/>
              </a:ext>
            </a:extLst>
          </p:cNvPr>
          <p:cNvSpPr/>
          <p:nvPr/>
        </p:nvSpPr>
        <p:spPr>
          <a:xfrm>
            <a:off x="9753600" y="1879600"/>
            <a:ext cx="2286000" cy="1651000"/>
          </a:xfrm>
          <a:prstGeom prst="round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6C4A20-97DA-4E5B-8B7E-24A18E46623B}"/>
              </a:ext>
            </a:extLst>
          </p:cNvPr>
          <p:cNvSpPr txBox="1"/>
          <p:nvPr/>
        </p:nvSpPr>
        <p:spPr>
          <a:xfrm>
            <a:off x="9804400" y="1981200"/>
            <a:ext cx="2184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Deploy
Serve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6201D0-EE2D-4586-B4CA-C290FE91B913}"/>
              </a:ext>
            </a:extLst>
          </p:cNvPr>
          <p:cNvSpPr txBox="1"/>
          <p:nvPr/>
        </p:nvSpPr>
        <p:spPr>
          <a:xfrm>
            <a:off x="9804400" y="2489200"/>
            <a:ext cx="21844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</a:rPr>
              <a:t>Seldon / KF
SageMaker
BentoML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71FEAE-323D-47D3-AEB8-5BC9189BE899}"/>
              </a:ext>
            </a:extLst>
          </p:cNvPr>
          <p:cNvSpPr/>
          <p:nvPr/>
        </p:nvSpPr>
        <p:spPr>
          <a:xfrm>
            <a:off x="101600" y="3606800"/>
            <a:ext cx="11988800" cy="381000"/>
          </a:xfrm>
          <a:prstGeom prst="rect">
            <a:avLst/>
          </a:prstGeom>
          <a:solidFill>
            <a:srgbClr val="F5F0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16BEBF-04C5-4364-8CF5-D0C99ADF76AB}"/>
              </a:ext>
            </a:extLst>
          </p:cNvPr>
          <p:cNvSpPr txBox="1"/>
          <p:nvPr/>
        </p:nvSpPr>
        <p:spPr>
          <a:xfrm>
            <a:off x="203200" y="3657600"/>
            <a:ext cx="11785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7B61FF"/>
                </a:solidFill>
              </a:rPr>
              <a:t>↓  Airflow DAG controls each ML step - retraining on schedule, drift detection triggers, conditional deploy on accuracy threshold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3E7830-8A4F-4242-AFEA-55B292A079FC}"/>
              </a:ext>
            </a:extLst>
          </p:cNvPr>
          <p:cNvSpPr txBox="1"/>
          <p:nvPr/>
        </p:nvSpPr>
        <p:spPr>
          <a:xfrm>
            <a:off x="203200" y="40894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999999"/>
                </a:solidFill>
              </a:rPr>
              <a:t>MLOps Use Cases with Airflow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181E918-CAAD-4F41-9C87-6C4107299C94}"/>
              </a:ext>
            </a:extLst>
          </p:cNvPr>
          <p:cNvSpPr/>
          <p:nvPr/>
        </p:nvSpPr>
        <p:spPr>
          <a:xfrm>
            <a:off x="203200" y="4368800"/>
            <a:ext cx="2908300" cy="21082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7B61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C5D670-4087-4783-A325-9C084772DFF4}"/>
              </a:ext>
            </a:extLst>
          </p:cNvPr>
          <p:cNvSpPr/>
          <p:nvPr/>
        </p:nvSpPr>
        <p:spPr>
          <a:xfrm>
            <a:off x="203200" y="4368800"/>
            <a:ext cx="2908300" cy="63500"/>
          </a:xfrm>
          <a:prstGeom prst="rect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1D79AD-5026-4F34-8696-D5E801DD8C9A}"/>
              </a:ext>
            </a:extLst>
          </p:cNvPr>
          <p:cNvSpPr txBox="1"/>
          <p:nvPr/>
        </p:nvSpPr>
        <p:spPr>
          <a:xfrm>
            <a:off x="304800" y="44958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7B61FF"/>
                </a:solidFill>
              </a:rPr>
              <a:t>Scheduled Retraining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D7B7F9-2B0F-4957-930D-10F415996905}"/>
              </a:ext>
            </a:extLst>
          </p:cNvPr>
          <p:cNvSpPr txBox="1"/>
          <p:nvPr/>
        </p:nvSpPr>
        <p:spPr>
          <a:xfrm>
            <a:off x="304800" y="4876800"/>
            <a:ext cx="2705100" cy="154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Retrain models on new data weekly/monthly via schedule_interval. No manual intervention.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036745D-7967-45D6-8F67-6857E3C66E57}"/>
              </a:ext>
            </a:extLst>
          </p:cNvPr>
          <p:cNvSpPr/>
          <p:nvPr/>
        </p:nvSpPr>
        <p:spPr>
          <a:xfrm>
            <a:off x="3213100" y="4368800"/>
            <a:ext cx="2908300" cy="21082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017C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D8CCA8-7CF2-4B95-B126-AA1596DDE8BB}"/>
              </a:ext>
            </a:extLst>
          </p:cNvPr>
          <p:cNvSpPr/>
          <p:nvPr/>
        </p:nvSpPr>
        <p:spPr>
          <a:xfrm>
            <a:off x="3213100" y="4368800"/>
            <a:ext cx="2908300" cy="635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F76F23-0BED-42DA-BD69-00F2C5F8DB5D}"/>
              </a:ext>
            </a:extLst>
          </p:cNvPr>
          <p:cNvSpPr txBox="1"/>
          <p:nvPr/>
        </p:nvSpPr>
        <p:spPr>
          <a:xfrm>
            <a:off x="3314700" y="44958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17CEE"/>
                </a:solidFill>
              </a:rPr>
              <a:t>Conditional Deployment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139B1B-C98B-44DB-B099-D09E5DB08238}"/>
              </a:ext>
            </a:extLst>
          </p:cNvPr>
          <p:cNvSpPr txBox="1"/>
          <p:nvPr/>
        </p:nvSpPr>
        <p:spPr>
          <a:xfrm>
            <a:off x="3314700" y="4876800"/>
            <a:ext cx="2705100" cy="154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BranchPythonOperator checks model accuracy. Deploy only if accuracy &gt; threshold. Else alert.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BE08690-28F3-49F2-BD1C-315B39B4D46B}"/>
              </a:ext>
            </a:extLst>
          </p:cNvPr>
          <p:cNvSpPr/>
          <p:nvPr/>
        </p:nvSpPr>
        <p:spPr>
          <a:xfrm>
            <a:off x="6223000" y="4368800"/>
            <a:ext cx="2908300" cy="21082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00C0A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FA8CCDC-7C16-4417-9878-020E3BEFDD61}"/>
              </a:ext>
            </a:extLst>
          </p:cNvPr>
          <p:cNvSpPr/>
          <p:nvPr/>
        </p:nvSpPr>
        <p:spPr>
          <a:xfrm>
            <a:off x="6223000" y="4368800"/>
            <a:ext cx="2908300" cy="63500"/>
          </a:xfrm>
          <a:prstGeom prst="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3B479F-8CEF-42D9-B659-530635FB0C58}"/>
              </a:ext>
            </a:extLst>
          </p:cNvPr>
          <p:cNvSpPr txBox="1"/>
          <p:nvPr/>
        </p:nvSpPr>
        <p:spPr>
          <a:xfrm>
            <a:off x="6324600" y="44958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0C0A3"/>
                </a:solidFill>
              </a:rPr>
              <a:t>Feature Store Integration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256AD1-612B-4442-A9EA-11E3E604A893}"/>
              </a:ext>
            </a:extLst>
          </p:cNvPr>
          <p:cNvSpPr txBox="1"/>
          <p:nvPr/>
        </p:nvSpPr>
        <p:spPr>
          <a:xfrm>
            <a:off x="6324600" y="4876800"/>
            <a:ext cx="2705100" cy="154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Orchestrate Feast / Tecton feature pipelines. Ensure features are fresh before training starts.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C2555E3-2FD9-447C-9337-B3AACF549CA5}"/>
              </a:ext>
            </a:extLst>
          </p:cNvPr>
          <p:cNvSpPr/>
          <p:nvPr/>
        </p:nvSpPr>
        <p:spPr>
          <a:xfrm>
            <a:off x="9232900" y="4368800"/>
            <a:ext cx="2908300" cy="21082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17EEC5-6FF2-4031-99C7-E4606375EC24}"/>
              </a:ext>
            </a:extLst>
          </p:cNvPr>
          <p:cNvSpPr/>
          <p:nvPr/>
        </p:nvSpPr>
        <p:spPr>
          <a:xfrm>
            <a:off x="9232900" y="4368800"/>
            <a:ext cx="2908300" cy="63500"/>
          </a:xfrm>
          <a:prstGeom prst="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A8E0A0-D654-45EE-BB50-D84AC8D41E64}"/>
              </a:ext>
            </a:extLst>
          </p:cNvPr>
          <p:cNvSpPr txBox="1"/>
          <p:nvPr/>
        </p:nvSpPr>
        <p:spPr>
          <a:xfrm>
            <a:off x="9334500" y="4495800"/>
            <a:ext cx="2705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6B35"/>
                </a:solidFill>
              </a:rPr>
              <a:t>Drift Monitoring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1DDA95-8024-47FF-8BFC-8B92B523F994}"/>
              </a:ext>
            </a:extLst>
          </p:cNvPr>
          <p:cNvSpPr txBox="1"/>
          <p:nvPr/>
        </p:nvSpPr>
        <p:spPr>
          <a:xfrm>
            <a:off x="9334500" y="4876800"/>
            <a:ext cx="2705100" cy="154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Run data drift checks (Evidently) as tasks. Trigger retraining if drift detected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027707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6C3847-7A65-4245-BEDA-D0CD2B04C83D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60894B-FE17-4288-8EAE-2FA70E57EB47}"/>
              </a:ext>
            </a:extLst>
          </p:cNvPr>
          <p:cNvSpPr txBox="1"/>
          <p:nvPr/>
        </p:nvSpPr>
        <p:spPr>
          <a:xfrm>
            <a:off x="254000" y="127000"/>
            <a:ext cx="1143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</a:rPr>
              <a:t>Deploying Airflow on Kubernetes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AF4FE7-FF88-46E0-8D7D-2474627B7DF7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5BDD0D-DF96-4BFD-8420-96F1083C0892}"/>
              </a:ext>
            </a:extLst>
          </p:cNvPr>
          <p:cNvSpPr/>
          <p:nvPr/>
        </p:nvSpPr>
        <p:spPr>
          <a:xfrm>
            <a:off x="203200" y="990600"/>
            <a:ext cx="11785600" cy="584200"/>
          </a:xfrm>
          <a:prstGeom prst="roundRect">
            <a:avLst/>
          </a:prstGeom>
          <a:solidFill>
            <a:srgbClr val="F0F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629DC4-41F9-4B44-BE64-945B9EA1E7B7}"/>
              </a:ext>
            </a:extLst>
          </p:cNvPr>
          <p:cNvSpPr txBox="1"/>
          <p:nvPr/>
        </p:nvSpPr>
        <p:spPr>
          <a:xfrm>
            <a:off x="304800" y="1066800"/>
            <a:ext cx="11582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1A1A2E"/>
                </a:solidFill>
              </a:rPr>
              <a:t>Kubernetes (K8s) is the recommended production deployment for Airflow 2.x. Official Helm chart available. KubernetesExecutor or CeleryKubernetesExecutor for task isolation and auto-scaling.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1AD4DA-EED2-4890-B14A-9E467704C1AB}"/>
              </a:ext>
            </a:extLst>
          </p:cNvPr>
          <p:cNvSpPr/>
          <p:nvPr/>
        </p:nvSpPr>
        <p:spPr>
          <a:xfrm>
            <a:off x="101600" y="1676400"/>
            <a:ext cx="11938000" cy="3683000"/>
          </a:xfrm>
          <a:prstGeom prst="roundRect">
            <a:avLst/>
          </a:prstGeom>
          <a:solidFill>
            <a:srgbClr val="F8FFFE"/>
          </a:solidFill>
          <a:ln w="25400" cap="flat" cmpd="sng" algn="ctr">
            <a:solidFill>
              <a:srgbClr val="00C0A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8E0A0-4FB5-4B4E-8C75-4BE3505541E5}"/>
              </a:ext>
            </a:extLst>
          </p:cNvPr>
          <p:cNvSpPr txBox="1"/>
          <p:nvPr/>
        </p:nvSpPr>
        <p:spPr>
          <a:xfrm>
            <a:off x="254000" y="17272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0C0A3"/>
                </a:solidFill>
              </a:rPr>
              <a:t>Kubernetes Cluster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AC05E7-CBB7-4DC9-B3E4-D72B96F80359}"/>
              </a:ext>
            </a:extLst>
          </p:cNvPr>
          <p:cNvSpPr/>
          <p:nvPr/>
        </p:nvSpPr>
        <p:spPr>
          <a:xfrm>
            <a:off x="254000" y="2057400"/>
            <a:ext cx="11633200" cy="3200400"/>
          </a:xfrm>
          <a:prstGeom prst="roundRect">
            <a:avLst/>
          </a:prstGeom>
          <a:solidFill>
            <a:srgbClr val="F0FFF8"/>
          </a:solidFill>
          <a:ln w="12700" cap="flat" cmpd="sng" algn="ctr">
            <a:solidFill>
              <a:srgbClr val="AADDCC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2402A1-48CC-4D8D-B542-2C332CA023B3}"/>
              </a:ext>
            </a:extLst>
          </p:cNvPr>
          <p:cNvSpPr txBox="1"/>
          <p:nvPr/>
        </p:nvSpPr>
        <p:spPr>
          <a:xfrm>
            <a:off x="406400" y="21082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00C0A3"/>
                </a:solidFill>
              </a:rPr>
              <a:t>Namespace: airflow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A80566-1E3B-44BA-8F77-D063AFFCE9E9}"/>
              </a:ext>
            </a:extLst>
          </p:cNvPr>
          <p:cNvSpPr/>
          <p:nvPr/>
        </p:nvSpPr>
        <p:spPr>
          <a:xfrm>
            <a:off x="406400" y="2438400"/>
            <a:ext cx="2133600" cy="1397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00C0A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5C22EE-AC39-4687-B7AC-7944A9072668}"/>
              </a:ext>
            </a:extLst>
          </p:cNvPr>
          <p:cNvSpPr/>
          <p:nvPr/>
        </p:nvSpPr>
        <p:spPr>
          <a:xfrm>
            <a:off x="406400" y="2438400"/>
            <a:ext cx="2133600" cy="76200"/>
          </a:xfrm>
          <a:prstGeom prst="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2BB1E6-1989-43A2-A0F7-854DBC81ED41}"/>
              </a:ext>
            </a:extLst>
          </p:cNvPr>
          <p:cNvSpPr txBox="1"/>
          <p:nvPr/>
        </p:nvSpPr>
        <p:spPr>
          <a:xfrm>
            <a:off x="457200" y="2565400"/>
            <a:ext cx="203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0C0A3"/>
                </a:solidFill>
              </a:rPr>
              <a:t>Scheduler
Pod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00227E-81F3-4A59-8BD9-BADC08983EB0}"/>
              </a:ext>
            </a:extLst>
          </p:cNvPr>
          <p:cNvSpPr txBox="1"/>
          <p:nvPr/>
        </p:nvSpPr>
        <p:spPr>
          <a:xfrm>
            <a:off x="457200" y="3098800"/>
            <a:ext cx="2032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666666"/>
                </a:solidFill>
              </a:rPr>
              <a:t>Parses DAGs
Schedules tasks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5CA9EEE-7C77-402D-9E37-9C9CB003D90D}"/>
              </a:ext>
            </a:extLst>
          </p:cNvPr>
          <p:cNvSpPr/>
          <p:nvPr/>
        </p:nvSpPr>
        <p:spPr>
          <a:xfrm>
            <a:off x="2844800" y="2438400"/>
            <a:ext cx="2133600" cy="1397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017C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41592F-C2FF-4E1F-8E41-3F6D52622E34}"/>
              </a:ext>
            </a:extLst>
          </p:cNvPr>
          <p:cNvSpPr/>
          <p:nvPr/>
        </p:nvSpPr>
        <p:spPr>
          <a:xfrm>
            <a:off x="2844800" y="2438400"/>
            <a:ext cx="2133600" cy="762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BC62E7-2601-4601-A719-A182C08344FE}"/>
              </a:ext>
            </a:extLst>
          </p:cNvPr>
          <p:cNvSpPr txBox="1"/>
          <p:nvPr/>
        </p:nvSpPr>
        <p:spPr>
          <a:xfrm>
            <a:off x="2895600" y="2565400"/>
            <a:ext cx="203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17CEE"/>
                </a:solidFill>
              </a:rPr>
              <a:t>Webserver
Pod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B0A24C-FC02-4BD9-B72B-A737F9619477}"/>
              </a:ext>
            </a:extLst>
          </p:cNvPr>
          <p:cNvSpPr txBox="1"/>
          <p:nvPr/>
        </p:nvSpPr>
        <p:spPr>
          <a:xfrm>
            <a:off x="2895600" y="3098800"/>
            <a:ext cx="2032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666666"/>
                </a:solidFill>
              </a:rPr>
              <a:t>Serves UI
REST API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2BC0B33-C9F3-48AE-BFB3-E67ACB5E386D}"/>
              </a:ext>
            </a:extLst>
          </p:cNvPr>
          <p:cNvSpPr/>
          <p:nvPr/>
        </p:nvSpPr>
        <p:spPr>
          <a:xfrm>
            <a:off x="5283200" y="2438400"/>
            <a:ext cx="2133600" cy="1397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7B61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D4E55B-277D-46F3-8796-1516AAF30E2C}"/>
              </a:ext>
            </a:extLst>
          </p:cNvPr>
          <p:cNvSpPr/>
          <p:nvPr/>
        </p:nvSpPr>
        <p:spPr>
          <a:xfrm>
            <a:off x="5283200" y="2438400"/>
            <a:ext cx="2133600" cy="76200"/>
          </a:xfrm>
          <a:prstGeom prst="rect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8F2CA7-0186-4505-96F0-5B5D3C713AFF}"/>
              </a:ext>
            </a:extLst>
          </p:cNvPr>
          <p:cNvSpPr txBox="1"/>
          <p:nvPr/>
        </p:nvSpPr>
        <p:spPr>
          <a:xfrm>
            <a:off x="5334000" y="2565400"/>
            <a:ext cx="203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7B61FF"/>
                </a:solidFill>
              </a:rPr>
              <a:t>Worker
Pod (x N)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7E2823-C084-4770-BAB7-0A97674E8C4C}"/>
              </a:ext>
            </a:extLst>
          </p:cNvPr>
          <p:cNvSpPr txBox="1"/>
          <p:nvPr/>
        </p:nvSpPr>
        <p:spPr>
          <a:xfrm>
            <a:off x="5334000" y="3098800"/>
            <a:ext cx="2032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666666"/>
                </a:solidFill>
              </a:rPr>
              <a:t>Auto-created
per task (K8sExec)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28319CC-4ECC-43DD-9DDB-D6A8AECD647F}"/>
              </a:ext>
            </a:extLst>
          </p:cNvPr>
          <p:cNvSpPr/>
          <p:nvPr/>
        </p:nvSpPr>
        <p:spPr>
          <a:xfrm>
            <a:off x="7721600" y="2438400"/>
            <a:ext cx="2133600" cy="1397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78E861-CE2B-42B5-86CE-27EC4EF60B0F}"/>
              </a:ext>
            </a:extLst>
          </p:cNvPr>
          <p:cNvSpPr/>
          <p:nvPr/>
        </p:nvSpPr>
        <p:spPr>
          <a:xfrm>
            <a:off x="7721600" y="2438400"/>
            <a:ext cx="2133600" cy="76200"/>
          </a:xfrm>
          <a:prstGeom prst="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546C02-2A12-4AA4-93C9-535FF9E76765}"/>
              </a:ext>
            </a:extLst>
          </p:cNvPr>
          <p:cNvSpPr txBox="1"/>
          <p:nvPr/>
        </p:nvSpPr>
        <p:spPr>
          <a:xfrm>
            <a:off x="7772400" y="2565400"/>
            <a:ext cx="203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6B35"/>
                </a:solidFill>
              </a:rPr>
              <a:t>Redis / RabbitMQ
Pod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CEF45C-3A42-4289-96C3-0BF21F431155}"/>
              </a:ext>
            </a:extLst>
          </p:cNvPr>
          <p:cNvSpPr txBox="1"/>
          <p:nvPr/>
        </p:nvSpPr>
        <p:spPr>
          <a:xfrm>
            <a:off x="7772400" y="3098800"/>
            <a:ext cx="2032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666666"/>
                </a:solidFill>
              </a:rPr>
              <a:t>Message broker
(Celery mode)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29AEDBD-80FD-46AE-9954-2B26BBEE888F}"/>
              </a:ext>
            </a:extLst>
          </p:cNvPr>
          <p:cNvSpPr/>
          <p:nvPr/>
        </p:nvSpPr>
        <p:spPr>
          <a:xfrm>
            <a:off x="10033000" y="2438400"/>
            <a:ext cx="2133600" cy="1397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A3480F-B73C-4B0A-9A5D-418E81C53911}"/>
              </a:ext>
            </a:extLst>
          </p:cNvPr>
          <p:cNvSpPr/>
          <p:nvPr/>
        </p:nvSpPr>
        <p:spPr>
          <a:xfrm>
            <a:off x="10033000" y="2438400"/>
            <a:ext cx="2133600" cy="762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7604F2-9B9E-4808-A820-039C8B07F2B0}"/>
              </a:ext>
            </a:extLst>
          </p:cNvPr>
          <p:cNvSpPr txBox="1"/>
          <p:nvPr/>
        </p:nvSpPr>
        <p:spPr>
          <a:xfrm>
            <a:off x="10134600" y="2565400"/>
            <a:ext cx="203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B020"/>
                </a:solidFill>
              </a:rPr>
              <a:t>PostgreSQL
Pod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E88EFB-E126-4B1B-B5A4-D5F3B01C2CD5}"/>
              </a:ext>
            </a:extLst>
          </p:cNvPr>
          <p:cNvSpPr txBox="1"/>
          <p:nvPr/>
        </p:nvSpPr>
        <p:spPr>
          <a:xfrm>
            <a:off x="10134600" y="3098800"/>
            <a:ext cx="2032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66666"/>
                </a:solidFill>
              </a:rPr>
              <a:t>Metadata DB
(or external RDS)</a:t>
            </a:r>
            <a:endParaRPr lang="en-US" sz="1200">
              <a:solidFill>
                <a:srgbClr val="666666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726C77C-35E3-42CD-B7C6-AB39FEFCC890}"/>
              </a:ext>
            </a:extLst>
          </p:cNvPr>
          <p:cNvSpPr/>
          <p:nvPr/>
        </p:nvSpPr>
        <p:spPr>
          <a:xfrm>
            <a:off x="406400" y="3987800"/>
            <a:ext cx="3556000" cy="457200"/>
          </a:xfrm>
          <a:prstGeom prst="roundRect">
            <a:avLst/>
          </a:prstGeom>
          <a:solidFill>
            <a:srgbClr val="E8F7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6B0919-FFF1-45E8-96CE-3A61BACC5B39}"/>
              </a:ext>
            </a:extLst>
          </p:cNvPr>
          <p:cNvSpPr txBox="1"/>
          <p:nvPr/>
        </p:nvSpPr>
        <p:spPr>
          <a:xfrm>
            <a:off x="508000" y="4064000"/>
            <a:ext cx="3352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017CEE"/>
                </a:solidFill>
              </a:rPr>
              <a:t>ConfigMaps: airflow.cfg, connections, variables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88FB8B2-40C5-4C92-AC6C-A034D177687C}"/>
              </a:ext>
            </a:extLst>
          </p:cNvPr>
          <p:cNvSpPr/>
          <p:nvPr/>
        </p:nvSpPr>
        <p:spPr>
          <a:xfrm>
            <a:off x="4191000" y="3987800"/>
            <a:ext cx="3556000" cy="457200"/>
          </a:xfrm>
          <a:prstGeom prst="roundRect">
            <a:avLst/>
          </a:prstGeom>
          <a:solidFill>
            <a:srgbClr val="FFF5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DAE6E6-D8F0-4F3A-8988-F9C51E5DA396}"/>
              </a:ext>
            </a:extLst>
          </p:cNvPr>
          <p:cNvSpPr txBox="1"/>
          <p:nvPr/>
        </p:nvSpPr>
        <p:spPr>
          <a:xfrm>
            <a:off x="4292600" y="4064000"/>
            <a:ext cx="3352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6B35"/>
                </a:solidFill>
              </a:rPr>
              <a:t>PVC: DAGs folder (GitSync sidecar), logs volume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8FCF6CF-9540-4E72-B2B8-B28DF112B42C}"/>
              </a:ext>
            </a:extLst>
          </p:cNvPr>
          <p:cNvSpPr/>
          <p:nvPr/>
        </p:nvSpPr>
        <p:spPr>
          <a:xfrm>
            <a:off x="7975600" y="3987800"/>
            <a:ext cx="3556000" cy="457200"/>
          </a:xfrm>
          <a:prstGeom prst="roundRect">
            <a:avLst/>
          </a:prstGeom>
          <a:solidFill>
            <a:srgbClr val="FFFA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6CB938-47AD-47D7-85EF-F7E4D09294A0}"/>
              </a:ext>
            </a:extLst>
          </p:cNvPr>
          <p:cNvSpPr txBox="1"/>
          <p:nvPr/>
        </p:nvSpPr>
        <p:spPr>
          <a:xfrm>
            <a:off x="8077200" y="4064000"/>
            <a:ext cx="3352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B020"/>
                </a:solidFill>
              </a:rPr>
              <a:t>Secrets: DB password, fernet key, connections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993D68-6CB5-4F17-BEF5-7D4B30423DC8}"/>
              </a:ext>
            </a:extLst>
          </p:cNvPr>
          <p:cNvSpPr txBox="1"/>
          <p:nvPr/>
        </p:nvSpPr>
        <p:spPr>
          <a:xfrm>
            <a:off x="203200" y="54864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999999"/>
                </a:solidFill>
              </a:rPr>
              <a:t>Deployment Steps (Helm)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8B920AF-FE72-4950-85D4-6CC311A90261}"/>
              </a:ext>
            </a:extLst>
          </p:cNvPr>
          <p:cNvSpPr/>
          <p:nvPr/>
        </p:nvSpPr>
        <p:spPr>
          <a:xfrm>
            <a:off x="203200" y="5791200"/>
            <a:ext cx="2908300" cy="8128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017C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16F72DC-0628-4D64-80E3-AA991E222137}"/>
              </a:ext>
            </a:extLst>
          </p:cNvPr>
          <p:cNvSpPr/>
          <p:nvPr/>
        </p:nvSpPr>
        <p:spPr>
          <a:xfrm>
            <a:off x="279400" y="5918200"/>
            <a:ext cx="381000" cy="381000"/>
          </a:xfrm>
          <a:prstGeom prst="ellipse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AE0729-C25B-48DD-8634-60FD61300852}"/>
              </a:ext>
            </a:extLst>
          </p:cNvPr>
          <p:cNvSpPr txBox="1"/>
          <p:nvPr/>
        </p:nvSpPr>
        <p:spPr>
          <a:xfrm>
            <a:off x="279400" y="59690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F6727A-8D7F-4D9C-81AE-17910ADFD07D}"/>
              </a:ext>
            </a:extLst>
          </p:cNvPr>
          <p:cNvSpPr txBox="1"/>
          <p:nvPr/>
        </p:nvSpPr>
        <p:spPr>
          <a:xfrm>
            <a:off x="736600" y="5842000"/>
            <a:ext cx="23241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444444"/>
                </a:solidFill>
              </a:rPr>
              <a:t>helm repo add apache-airflow https://airflow.apache.org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F5C9243-8E0B-45A9-A7F3-2DE7775D5145}"/>
              </a:ext>
            </a:extLst>
          </p:cNvPr>
          <p:cNvSpPr/>
          <p:nvPr/>
        </p:nvSpPr>
        <p:spPr>
          <a:xfrm>
            <a:off x="3213100" y="5791200"/>
            <a:ext cx="2908300" cy="8128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00C0A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2613266-61C3-48A4-A1A8-8364299D2014}"/>
              </a:ext>
            </a:extLst>
          </p:cNvPr>
          <p:cNvSpPr/>
          <p:nvPr/>
        </p:nvSpPr>
        <p:spPr>
          <a:xfrm>
            <a:off x="3289300" y="5918200"/>
            <a:ext cx="381000" cy="381000"/>
          </a:xfrm>
          <a:prstGeom prst="ellipse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E9152B-B936-488E-B725-BF482007D534}"/>
              </a:ext>
            </a:extLst>
          </p:cNvPr>
          <p:cNvSpPr txBox="1"/>
          <p:nvPr/>
        </p:nvSpPr>
        <p:spPr>
          <a:xfrm>
            <a:off x="3289300" y="59690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E4BE86-28AC-4569-AF49-4F4F34CB59D4}"/>
              </a:ext>
            </a:extLst>
          </p:cNvPr>
          <p:cNvSpPr txBox="1"/>
          <p:nvPr/>
        </p:nvSpPr>
        <p:spPr>
          <a:xfrm>
            <a:off x="3746500" y="5842000"/>
            <a:ext cx="23241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444444"/>
                </a:solidFill>
              </a:rPr>
              <a:t>Create values.yaml - executor, images, Git repo, resources, secrets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760FF3F-6DB4-4A37-8387-6FFEEE72D49E}"/>
              </a:ext>
            </a:extLst>
          </p:cNvPr>
          <p:cNvSpPr/>
          <p:nvPr/>
        </p:nvSpPr>
        <p:spPr>
          <a:xfrm>
            <a:off x="6223000" y="5791200"/>
            <a:ext cx="2908300" cy="8128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2BA41C1-8F0F-4A8B-A901-2B91E34A54A8}"/>
              </a:ext>
            </a:extLst>
          </p:cNvPr>
          <p:cNvSpPr/>
          <p:nvPr/>
        </p:nvSpPr>
        <p:spPr>
          <a:xfrm>
            <a:off x="6299200" y="5918200"/>
            <a:ext cx="381000" cy="381000"/>
          </a:xfrm>
          <a:prstGeom prst="ellipse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93E464-5935-43E2-9C3F-BFF826F77243}"/>
              </a:ext>
            </a:extLst>
          </p:cNvPr>
          <p:cNvSpPr txBox="1"/>
          <p:nvPr/>
        </p:nvSpPr>
        <p:spPr>
          <a:xfrm>
            <a:off x="6299200" y="59690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FF92C7-7780-4D2C-A404-A5ADE8E67727}"/>
              </a:ext>
            </a:extLst>
          </p:cNvPr>
          <p:cNvSpPr txBox="1"/>
          <p:nvPr/>
        </p:nvSpPr>
        <p:spPr>
          <a:xfrm>
            <a:off x="6756400" y="5842000"/>
            <a:ext cx="23241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444444"/>
                </a:solidFill>
              </a:rPr>
              <a:t>helm install airflow apache-airflow/airflow -f values.yaml -n airflow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B225792-8D4F-493E-B860-7E6D975885B1}"/>
              </a:ext>
            </a:extLst>
          </p:cNvPr>
          <p:cNvSpPr/>
          <p:nvPr/>
        </p:nvSpPr>
        <p:spPr>
          <a:xfrm>
            <a:off x="9232900" y="5791200"/>
            <a:ext cx="2908300" cy="812800"/>
          </a:xfrm>
          <a:prstGeom prst="roundRect">
            <a:avLst/>
          </a:prstGeom>
          <a:solidFill>
            <a:srgbClr val="F9FAFB"/>
          </a:solidFill>
          <a:ln w="19050" cap="flat" cmpd="sng" algn="ctr">
            <a:solidFill>
              <a:srgbClr val="7B61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0D8CAD0-C4A0-4675-9731-8B1A96347977}"/>
              </a:ext>
            </a:extLst>
          </p:cNvPr>
          <p:cNvSpPr/>
          <p:nvPr/>
        </p:nvSpPr>
        <p:spPr>
          <a:xfrm>
            <a:off x="9309100" y="5918200"/>
            <a:ext cx="381000" cy="381000"/>
          </a:xfrm>
          <a:prstGeom prst="ellipse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97A83E-4A13-40FF-BA7D-25E057145E4D}"/>
              </a:ext>
            </a:extLst>
          </p:cNvPr>
          <p:cNvSpPr txBox="1"/>
          <p:nvPr/>
        </p:nvSpPr>
        <p:spPr>
          <a:xfrm>
            <a:off x="9309100" y="59690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C543A8-B3D1-4903-A494-E67B6B79C66B}"/>
              </a:ext>
            </a:extLst>
          </p:cNvPr>
          <p:cNvSpPr txBox="1"/>
          <p:nvPr/>
        </p:nvSpPr>
        <p:spPr>
          <a:xfrm>
            <a:off x="9766300" y="5842000"/>
            <a:ext cx="23241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444444"/>
                </a:solidFill>
              </a:rPr>
              <a:t>Configure GitSync sidecar to sync DAGs from Git repo to pods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2301220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D89751-1391-49C9-8FFA-7B9B53D59D80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A1A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5D2C33-3F27-48AE-A2CC-287C3DDECE7D}"/>
              </a:ext>
            </a:extLst>
          </p:cNvPr>
          <p:cNvSpPr txBox="1"/>
          <p:nvPr/>
        </p:nvSpPr>
        <p:spPr>
          <a:xfrm>
            <a:off x="254000" y="127000"/>
            <a:ext cx="1143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</a:rPr>
              <a:t>Complete Airflow Flow - End to 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4DB911-9563-411D-8207-C43369157FCE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EC166B-54AE-4C11-AF7C-F019D36E7BAE}"/>
              </a:ext>
            </a:extLst>
          </p:cNvPr>
          <p:cNvSpPr/>
          <p:nvPr/>
        </p:nvSpPr>
        <p:spPr>
          <a:xfrm>
            <a:off x="203200" y="990600"/>
            <a:ext cx="11785600" cy="584200"/>
          </a:xfrm>
          <a:prstGeom prst="roundRect">
            <a:avLst/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A9CA1-16B3-4E23-ABE3-A764E4B2939F}"/>
              </a:ext>
            </a:extLst>
          </p:cNvPr>
          <p:cNvSpPr txBox="1"/>
          <p:nvPr/>
        </p:nvSpPr>
        <p:spPr>
          <a:xfrm>
            <a:off x="304800" y="1066800"/>
            <a:ext cx="11582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1A1A2E"/>
                </a:solidFill>
              </a:rPr>
              <a:t>Tracing a single DAG run from trigger to completion - how all components interact together in a real-world Airflow production system.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3267CC-7C61-41AD-B95C-FB10FE6B836A}"/>
              </a:ext>
            </a:extLst>
          </p:cNvPr>
          <p:cNvSpPr/>
          <p:nvPr/>
        </p:nvSpPr>
        <p:spPr>
          <a:xfrm>
            <a:off x="203200" y="1727200"/>
            <a:ext cx="3949700" cy="21844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017C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65A003-A3F0-44FD-BEB0-ABDB1950ECAB}"/>
              </a:ext>
            </a:extLst>
          </p:cNvPr>
          <p:cNvSpPr/>
          <p:nvPr/>
        </p:nvSpPr>
        <p:spPr>
          <a:xfrm>
            <a:off x="203200" y="1727200"/>
            <a:ext cx="3949700" cy="635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FE10B5-521B-49B2-8345-4E66706F1BE0}"/>
              </a:ext>
            </a:extLst>
          </p:cNvPr>
          <p:cNvSpPr/>
          <p:nvPr/>
        </p:nvSpPr>
        <p:spPr>
          <a:xfrm>
            <a:off x="330200" y="1905000"/>
            <a:ext cx="558800" cy="558800"/>
          </a:xfrm>
          <a:prstGeom prst="ellipse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5854B8-8EDD-4858-A855-3ADFC4BE4439}"/>
              </a:ext>
            </a:extLst>
          </p:cNvPr>
          <p:cNvSpPr txBox="1"/>
          <p:nvPr/>
        </p:nvSpPr>
        <p:spPr>
          <a:xfrm>
            <a:off x="330200" y="2006600"/>
            <a:ext cx="55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28DC67-0264-40EE-9206-4C4C1D6E4405}"/>
              </a:ext>
            </a:extLst>
          </p:cNvPr>
          <p:cNvSpPr txBox="1"/>
          <p:nvPr/>
        </p:nvSpPr>
        <p:spPr>
          <a:xfrm>
            <a:off x="1016000" y="1905000"/>
            <a:ext cx="30353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17CEE"/>
                </a:solidFill>
              </a:rPr>
              <a:t>DAG File Deployed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C5ADB8-968B-4D6B-A015-A955D99BA86D}"/>
              </a:ext>
            </a:extLst>
          </p:cNvPr>
          <p:cNvSpPr txBox="1"/>
          <p:nvPr/>
        </p:nvSpPr>
        <p:spPr>
          <a:xfrm>
            <a:off x="330200" y="2641600"/>
            <a:ext cx="36957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Developer writes DAG in Python, commits to Git. GitSync sidecar syncs to Scheduler/Worker pods.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5E9AE22-F825-45E5-9013-C619B913C9D8}"/>
              </a:ext>
            </a:extLst>
          </p:cNvPr>
          <p:cNvSpPr/>
          <p:nvPr/>
        </p:nvSpPr>
        <p:spPr>
          <a:xfrm>
            <a:off x="4178300" y="2692400"/>
            <a:ext cx="50800" cy="1778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14EEEE4-4A50-46C0-9C29-56A5202A84AE}"/>
              </a:ext>
            </a:extLst>
          </p:cNvPr>
          <p:cNvSpPr/>
          <p:nvPr/>
        </p:nvSpPr>
        <p:spPr>
          <a:xfrm>
            <a:off x="4254500" y="1727200"/>
            <a:ext cx="3949700" cy="21844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00C0A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973311-EE2E-44A5-BCA9-E8D072AA7A20}"/>
              </a:ext>
            </a:extLst>
          </p:cNvPr>
          <p:cNvSpPr/>
          <p:nvPr/>
        </p:nvSpPr>
        <p:spPr>
          <a:xfrm>
            <a:off x="4254500" y="1727200"/>
            <a:ext cx="3949700" cy="63500"/>
          </a:xfrm>
          <a:prstGeom prst="rect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B277A9A-F2C8-4F2A-8A4B-0DEE3F4B3619}"/>
              </a:ext>
            </a:extLst>
          </p:cNvPr>
          <p:cNvSpPr/>
          <p:nvPr/>
        </p:nvSpPr>
        <p:spPr>
          <a:xfrm>
            <a:off x="4381500" y="1905000"/>
            <a:ext cx="558800" cy="558800"/>
          </a:xfrm>
          <a:prstGeom prst="ellipse">
            <a:avLst/>
          </a:prstGeom>
          <a:solidFill>
            <a:srgbClr val="00C0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E1298C-47DE-4D11-8D55-DA6C44582AEC}"/>
              </a:ext>
            </a:extLst>
          </p:cNvPr>
          <p:cNvSpPr txBox="1"/>
          <p:nvPr/>
        </p:nvSpPr>
        <p:spPr>
          <a:xfrm>
            <a:off x="4381500" y="2006600"/>
            <a:ext cx="55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5F5737-C578-4887-BFC1-E488E77CA29F}"/>
              </a:ext>
            </a:extLst>
          </p:cNvPr>
          <p:cNvSpPr txBox="1"/>
          <p:nvPr/>
        </p:nvSpPr>
        <p:spPr>
          <a:xfrm>
            <a:off x="5067300" y="1905000"/>
            <a:ext cx="30353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0C0A3"/>
                </a:solidFill>
              </a:rPr>
              <a:t>Scheduler Parses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193DEB-4FC7-4DC0-BAF8-6DC0CA5CD659}"/>
              </a:ext>
            </a:extLst>
          </p:cNvPr>
          <p:cNvSpPr txBox="1"/>
          <p:nvPr/>
        </p:nvSpPr>
        <p:spPr>
          <a:xfrm>
            <a:off x="4381500" y="2641600"/>
            <a:ext cx="36957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Scheduler detects new/changed DAG file, parses it, creates DagRun record in Metadata DB.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A1B1A2C-925C-4E60-A7D5-604DFB6EE575}"/>
              </a:ext>
            </a:extLst>
          </p:cNvPr>
          <p:cNvSpPr/>
          <p:nvPr/>
        </p:nvSpPr>
        <p:spPr>
          <a:xfrm>
            <a:off x="8229600" y="2692400"/>
            <a:ext cx="50800" cy="1778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21BB869-65A0-46DD-BE58-33F6D1A80086}"/>
              </a:ext>
            </a:extLst>
          </p:cNvPr>
          <p:cNvSpPr/>
          <p:nvPr/>
        </p:nvSpPr>
        <p:spPr>
          <a:xfrm>
            <a:off x="8305800" y="1727200"/>
            <a:ext cx="3949700" cy="21844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08DD92-ADFC-4522-8444-D1936114EA4B}"/>
              </a:ext>
            </a:extLst>
          </p:cNvPr>
          <p:cNvSpPr/>
          <p:nvPr/>
        </p:nvSpPr>
        <p:spPr>
          <a:xfrm>
            <a:off x="8305800" y="1727200"/>
            <a:ext cx="3949700" cy="63500"/>
          </a:xfrm>
          <a:prstGeom prst="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2EC6152-EF7A-43DF-80D7-5E514BAB5A39}"/>
              </a:ext>
            </a:extLst>
          </p:cNvPr>
          <p:cNvSpPr/>
          <p:nvPr/>
        </p:nvSpPr>
        <p:spPr>
          <a:xfrm>
            <a:off x="8432800" y="1905000"/>
            <a:ext cx="558800" cy="558800"/>
          </a:xfrm>
          <a:prstGeom prst="ellipse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055B89-2307-4D58-A227-7C0CD6AA9F57}"/>
              </a:ext>
            </a:extLst>
          </p:cNvPr>
          <p:cNvSpPr txBox="1"/>
          <p:nvPr/>
        </p:nvSpPr>
        <p:spPr>
          <a:xfrm>
            <a:off x="8432800" y="2006600"/>
            <a:ext cx="55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3DB773-D24B-4F48-91FA-8379AB8A6D8C}"/>
              </a:ext>
            </a:extLst>
          </p:cNvPr>
          <p:cNvSpPr txBox="1"/>
          <p:nvPr/>
        </p:nvSpPr>
        <p:spPr>
          <a:xfrm>
            <a:off x="9118600" y="1905000"/>
            <a:ext cx="30353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6B35"/>
                </a:solidFill>
              </a:rPr>
              <a:t>Schedule Triggered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3F7FE5-0872-4944-A392-B837B0E76526}"/>
              </a:ext>
            </a:extLst>
          </p:cNvPr>
          <p:cNvSpPr txBox="1"/>
          <p:nvPr/>
        </p:nvSpPr>
        <p:spPr>
          <a:xfrm>
            <a:off x="8432800" y="2641600"/>
            <a:ext cx="36957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schedule_interval fires. Scheduler creates TaskInstance records (queued state) in Metadata DB.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F2EA59-2895-412F-B170-553A3F7C5F7D}"/>
              </a:ext>
            </a:extLst>
          </p:cNvPr>
          <p:cNvSpPr/>
          <p:nvPr/>
        </p:nvSpPr>
        <p:spPr>
          <a:xfrm>
            <a:off x="203200" y="4089400"/>
            <a:ext cx="3949700" cy="21844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7B61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9F3F8B-EB9F-40D3-82C5-2F5962E85E60}"/>
              </a:ext>
            </a:extLst>
          </p:cNvPr>
          <p:cNvSpPr/>
          <p:nvPr/>
        </p:nvSpPr>
        <p:spPr>
          <a:xfrm>
            <a:off x="203200" y="4089400"/>
            <a:ext cx="3949700" cy="63500"/>
          </a:xfrm>
          <a:prstGeom prst="rect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1C45588-8AEA-4748-9869-3548848AD9D1}"/>
              </a:ext>
            </a:extLst>
          </p:cNvPr>
          <p:cNvSpPr/>
          <p:nvPr/>
        </p:nvSpPr>
        <p:spPr>
          <a:xfrm>
            <a:off x="330200" y="4267200"/>
            <a:ext cx="558800" cy="558800"/>
          </a:xfrm>
          <a:prstGeom prst="ellipse">
            <a:avLst/>
          </a:prstGeom>
          <a:solidFill>
            <a:srgbClr val="7B6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FEFDE0-9B87-4B7B-A209-49E449106318}"/>
              </a:ext>
            </a:extLst>
          </p:cNvPr>
          <p:cNvSpPr txBox="1"/>
          <p:nvPr/>
        </p:nvSpPr>
        <p:spPr>
          <a:xfrm>
            <a:off x="330200" y="4368800"/>
            <a:ext cx="55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012FDD-7760-45D9-9542-66B48DE3931C}"/>
              </a:ext>
            </a:extLst>
          </p:cNvPr>
          <p:cNvSpPr txBox="1"/>
          <p:nvPr/>
        </p:nvSpPr>
        <p:spPr>
          <a:xfrm>
            <a:off x="1016000" y="4267200"/>
            <a:ext cx="30353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7B61FF"/>
                </a:solidFill>
              </a:rPr>
              <a:t>Executor Dispatches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442E60-2396-4955-AA4D-C42247580927}"/>
              </a:ext>
            </a:extLst>
          </p:cNvPr>
          <p:cNvSpPr txBox="1"/>
          <p:nvPr/>
        </p:nvSpPr>
        <p:spPr>
          <a:xfrm>
            <a:off x="330200" y="5003800"/>
            <a:ext cx="36957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Executor picks up queued tasks. K8s Executor launches a Pod per task. Celery sends to broker.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51A2672-8E79-4305-BDD6-63B707DA2918}"/>
              </a:ext>
            </a:extLst>
          </p:cNvPr>
          <p:cNvSpPr/>
          <p:nvPr/>
        </p:nvSpPr>
        <p:spPr>
          <a:xfrm>
            <a:off x="4178300" y="5054600"/>
            <a:ext cx="50800" cy="1778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E43395F-3709-4DB6-9FD2-EDF84AFE869A}"/>
              </a:ext>
            </a:extLst>
          </p:cNvPr>
          <p:cNvSpPr/>
          <p:nvPr/>
        </p:nvSpPr>
        <p:spPr>
          <a:xfrm>
            <a:off x="4254500" y="4089400"/>
            <a:ext cx="3949700" cy="21844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5A7FAE-2DA0-4ADF-9989-856EF468D780}"/>
              </a:ext>
            </a:extLst>
          </p:cNvPr>
          <p:cNvSpPr/>
          <p:nvPr/>
        </p:nvSpPr>
        <p:spPr>
          <a:xfrm>
            <a:off x="4254500" y="4089400"/>
            <a:ext cx="3949700" cy="635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7042F6D-E80C-4FEE-9255-643D876B30DF}"/>
              </a:ext>
            </a:extLst>
          </p:cNvPr>
          <p:cNvSpPr/>
          <p:nvPr/>
        </p:nvSpPr>
        <p:spPr>
          <a:xfrm>
            <a:off x="4381500" y="4267200"/>
            <a:ext cx="558800" cy="558800"/>
          </a:xfrm>
          <a:prstGeom prst="ellipse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15B255-9FD4-43BF-AE1B-0C6F5D068B31}"/>
              </a:ext>
            </a:extLst>
          </p:cNvPr>
          <p:cNvSpPr txBox="1"/>
          <p:nvPr/>
        </p:nvSpPr>
        <p:spPr>
          <a:xfrm>
            <a:off x="4381500" y="4368800"/>
            <a:ext cx="55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199CF9-5415-4236-945A-67BF5D40143E}"/>
              </a:ext>
            </a:extLst>
          </p:cNvPr>
          <p:cNvSpPr txBox="1"/>
          <p:nvPr/>
        </p:nvSpPr>
        <p:spPr>
          <a:xfrm>
            <a:off x="5067300" y="4267200"/>
            <a:ext cx="30353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B020"/>
                </a:solidFill>
              </a:rPr>
              <a:t>Worker Executes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A521A5-6E68-4299-9BBF-B1F7048A8995}"/>
              </a:ext>
            </a:extLst>
          </p:cNvPr>
          <p:cNvSpPr txBox="1"/>
          <p:nvPr/>
        </p:nvSpPr>
        <p:spPr>
          <a:xfrm>
            <a:off x="4381500" y="5003800"/>
            <a:ext cx="36957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Worker Pod runs the Operator's execute() method. Logs streamed. Status updated in Metadata DB.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F1914390-2C23-45A8-A132-454E6027E30A}"/>
              </a:ext>
            </a:extLst>
          </p:cNvPr>
          <p:cNvSpPr/>
          <p:nvPr/>
        </p:nvSpPr>
        <p:spPr>
          <a:xfrm>
            <a:off x="8229600" y="5054600"/>
            <a:ext cx="50800" cy="1778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99BF981-C49D-49C9-9916-631B0A2279FB}"/>
              </a:ext>
            </a:extLst>
          </p:cNvPr>
          <p:cNvSpPr/>
          <p:nvPr/>
        </p:nvSpPr>
        <p:spPr>
          <a:xfrm>
            <a:off x="8305800" y="4089400"/>
            <a:ext cx="3949700" cy="21844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E91E8C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EEA73A7-295C-484D-9A10-B48794FB3B8A}"/>
              </a:ext>
            </a:extLst>
          </p:cNvPr>
          <p:cNvSpPr/>
          <p:nvPr/>
        </p:nvSpPr>
        <p:spPr>
          <a:xfrm>
            <a:off x="8305800" y="4089400"/>
            <a:ext cx="3949700" cy="63500"/>
          </a:xfrm>
          <a:prstGeom prst="rect">
            <a:avLst/>
          </a:prstGeom>
          <a:solidFill>
            <a:srgbClr val="E91E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2FBA3A0-89B3-4B95-BB9E-1861EDFB01DF}"/>
              </a:ext>
            </a:extLst>
          </p:cNvPr>
          <p:cNvSpPr/>
          <p:nvPr/>
        </p:nvSpPr>
        <p:spPr>
          <a:xfrm>
            <a:off x="8432800" y="4267200"/>
            <a:ext cx="558800" cy="558800"/>
          </a:xfrm>
          <a:prstGeom prst="ellipse">
            <a:avLst/>
          </a:prstGeom>
          <a:solidFill>
            <a:srgbClr val="E91E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231D0B-4287-42D3-988A-A59A563F4EC1}"/>
              </a:ext>
            </a:extLst>
          </p:cNvPr>
          <p:cNvSpPr txBox="1"/>
          <p:nvPr/>
        </p:nvSpPr>
        <p:spPr>
          <a:xfrm>
            <a:off x="8432800" y="4368800"/>
            <a:ext cx="55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4E5A5A-DAFD-4C78-91C9-679070802699}"/>
              </a:ext>
            </a:extLst>
          </p:cNvPr>
          <p:cNvSpPr txBox="1"/>
          <p:nvPr/>
        </p:nvSpPr>
        <p:spPr>
          <a:xfrm>
            <a:off x="9118600" y="4267200"/>
            <a:ext cx="30353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E91E8C"/>
                </a:solidFill>
              </a:rPr>
              <a:t>UI Reflects State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75D7AF-CBA6-413A-8A03-B736CCD4CE60}"/>
              </a:ext>
            </a:extLst>
          </p:cNvPr>
          <p:cNvSpPr txBox="1"/>
          <p:nvPr/>
        </p:nvSpPr>
        <p:spPr>
          <a:xfrm>
            <a:off x="8432800" y="5003800"/>
            <a:ext cx="36957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Webserver reads Metadata DB. UI shows success/failure, task duration, log links in real-time.</a:t>
            </a:r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7595D8AC-8B7C-4823-A470-CE14860408E2}"/>
              </a:ext>
            </a:extLst>
          </p:cNvPr>
          <p:cNvSpPr/>
          <p:nvPr/>
        </p:nvSpPr>
        <p:spPr>
          <a:xfrm>
            <a:off x="5892800" y="3987800"/>
            <a:ext cx="381000" cy="228600"/>
          </a:xfrm>
          <a:prstGeom prst="down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AA268E7-8B4D-4A77-8400-F084542AC2DB}"/>
              </a:ext>
            </a:extLst>
          </p:cNvPr>
          <p:cNvSpPr/>
          <p:nvPr/>
        </p:nvSpPr>
        <p:spPr>
          <a:xfrm>
            <a:off x="0" y="6426200"/>
            <a:ext cx="12192000" cy="431800"/>
          </a:xfrm>
          <a:prstGeom prst="rect">
            <a:avLst/>
          </a:prstGeom>
          <a:solidFill>
            <a:srgbClr val="017C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9F854C-FF0C-43E8-B3A3-884FF5A35E30}"/>
              </a:ext>
            </a:extLst>
          </p:cNvPr>
          <p:cNvSpPr txBox="1"/>
          <p:nvPr/>
        </p:nvSpPr>
        <p:spPr>
          <a:xfrm>
            <a:off x="203200" y="6502400"/>
            <a:ext cx="1178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All states persisted in Metadata DB  •  All logs stored to configured log backend (S3, GCS, EFS)  •  Alerting via email / Slack / PagerDuty on failure</a:t>
            </a:r>
          </a:p>
        </p:txBody>
      </p:sp>
    </p:spTree>
    <p:extLst>
      <p:ext uri="{BB962C8B-B14F-4D97-AF65-F5344CB8AC3E}">
        <p14:creationId xmlns:p14="http://schemas.microsoft.com/office/powerpoint/2010/main" val="4005701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762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282dc09-ced1-4319-b6c1-82a5e2d58dec}">
  <we:reference id="WA200010001" version="1.0.0.1" store="en-US" storeType="OMEX"/>
  <we:alternateReferences/>
  <we:properties>
    <we:property name="Microsoft.Office.CampaignId" value="&quot;none&quot;"/>
    <we:property name="claude.fileId" value="&quot;cc208dd7-b5c9-48c5-bc20-d7abd6f50cdb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2121</Words>
  <Application>Microsoft Office PowerPoint</Application>
  <PresentationFormat>Widescreen</PresentationFormat>
  <Paragraphs>260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Rajinikanth Vadla</cp:lastModifiedBy>
  <cp:revision>5</cp:revision>
  <dcterms:created xsi:type="dcterms:W3CDTF">2018-06-07T21:39:02Z</dcterms:created>
  <dcterms:modified xsi:type="dcterms:W3CDTF">2026-05-10T18:31:18Z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